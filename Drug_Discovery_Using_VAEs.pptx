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5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j5Re8IscnDO2cEQFS51X4ohzSC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Introduce the project: we teach a neural network the grammar of chemistry so it can design new, drug-like molecules from scratch. Introduce the three team members.</a:t>
            </a: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15-04-2025</a:t>
            </a: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Walk through the outline. The right panel shows the four headline numbers of the project.</a:t>
            </a:r>
          </a:p>
        </p:txBody>
      </p:sp>
      <p:sp>
        <p:nvSpPr>
          <p:cNvPr id="106" name="Google Shape;10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sp>
        <p:nvSpPr>
          <p:cNvPr id="107" name="Google Shape;107;p2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15-04-2025</a:t>
            </a:r>
            <a:endParaRPr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109" name="Google Shape;109;p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Traditional discovery costs about $2.6B and 10-15 years, and over 90% of candidates fail in trials. Chemical space is estimated at 10^60-10^68 molecules while screening reaches at most 10^6-10^7. We need AI that invents promising molecules directly.</a:t>
            </a:r>
          </a:p>
        </p:txBody>
      </p:sp>
      <p:sp>
        <p:nvSpPr>
          <p:cNvPr id="128" name="Google Shape;12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29" name="Google Shape;129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15-04-2025</a:t>
            </a:r>
            <a:endParaRPr/>
          </a:p>
        </p:txBody>
      </p:sp>
      <p:sp>
        <p:nvSpPr>
          <p:cNvPr id="130" name="Google Shape;130;p3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131" name="Google Shape;131;p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objectives: learn chemical grammar, build the VAE, generate, validate, deliver.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Python: PyTorch for the model, RDKit for chemistry, scikit-learn for splits and projections.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ZINC 250k has 249,455 commercially available drug-like molecules. SMILES turns a chemical graph into a line of text, so sequence models can be used. The example is row 0 of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Preprocessing: clean, build a 38-token character vocabulary, pad to 122, split 90/10. Character-level SMILES keeps every atom, ring index and bond symbol as one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VAE maximises the ELBO: reconstruction minus KL to a standard normal. The KL has a closed form. The reparameterization trick lets gradients flow through sampling. We weight the KL by beta = 0.05 to avoid posterior collapse.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Encoder: embedding, a GRU with 256 hidden units, then two linear layers produce mu and log-variance. We sample z with the reparameterization trick. The decoder maps z to its initial hidden state and reconstructs the SMILES token by token with teacher forcing.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Training uses Adam at 0.001, batch size 128, gradient clipping at 5 and a fixed beta of 0.05. The loss curve drops from about 1.43 to 0.31 over the plotted 10 epochs.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 inference we sample 100,000 latent vectors, decode with temperature 1.0, validate with RDKit, then check uniqueness and novelty against the training set. 81,308 are valid, 81,267 unique and all novel.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Validity 81.31%, uniqueness 99.95%, novelty 100%, average QED 0.72. All targets are met. Exact-string reconstruction is near zero for character-level VAEs because SMILES is not unique, so generative metrics are the right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the highest-QED molecules among 500 samples. They show realistic drug-like scaffolds. Be upfront that validity does not guarantee synthesizability; a couple of structures contain unusual 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1,000 encoded training molecules projected with PCA (left) and t-SNE (right). t-SNE shows compact local groups. PCA shows the latent means very close to the origin on a tiny scale, which is consistent with strong KL regularisation; describe it as it is rather than as a smooth manifold.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GitHub link and the deliverables. Switch to the local web dashboard for a short live demo: generate a batch, apply the QED filter, open the molecule inspector.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Summarise: the VAE learns chemistry without rules and produces valid, unique, novel, drug-like molecules. Future work: conditional generation, better decoders, property optimisation, and wet-lab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Thank the audience and invite questions.</a:t>
            </a:r>
          </a:p>
        </p:txBody>
      </p:sp>
      <p:sp>
        <p:nvSpPr>
          <p:cNvPr id="150" name="Google Shape;15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sp>
        <p:nvSpPr>
          <p:cNvPr id="151" name="Google Shape;151;p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15-04-2025</a:t>
            </a:r>
            <a:endParaRPr/>
          </a:p>
        </p:txBody>
      </p:sp>
      <p:sp>
        <p:nvSpPr>
          <p:cNvPr id="152" name="Google Shape;152;p4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153" name="Google Shape;153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arshil7031/Drug-Discovery-VAE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93" name="Google Shape;93;p1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529337" y="896634"/>
            <a:ext cx="10824463" cy="891025"/>
            <a:chOff x="529337" y="896634"/>
            <a:chExt cx="10824463" cy="891025"/>
          </a:xfrm>
        </p:grpSpPr>
        <p:pic>
          <p:nvPicPr>
            <p:cNvPr id="99" name="Google Shape;99;p1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529337" y="896634"/>
              <a:ext cx="1898904" cy="8910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0" name="Google Shape;100;p1"/>
            <p:cNvGrpSpPr/>
            <p:nvPr/>
          </p:nvGrpSpPr>
          <p:grpSpPr>
            <a:xfrm>
              <a:off x="11015286" y="1236138"/>
              <a:ext cx="338514" cy="212015"/>
              <a:chOff x="521095" y="429142"/>
              <a:chExt cx="463644" cy="290385"/>
            </a:xfrm>
          </p:grpSpPr>
          <p:sp>
            <p:nvSpPr>
              <p:cNvPr id="101" name="Google Shape;101;p1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6" name="Google Shape;96;p1"/>
          <p:cNvSpPr txBox="1"/>
          <p:nvPr/>
        </p:nvSpPr>
        <p:spPr>
          <a:xfrm>
            <a:off x="448056" y="2240280"/>
            <a:ext cx="109728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Drug Discovery Using VAEs</a:t>
            </a:r>
            <a:endParaRPr dirty="0"/>
          </a:p>
        </p:txBody>
      </p:sp>
      <p:sp>
        <p:nvSpPr>
          <p:cNvPr id="103" name="Subtitle"/>
          <p:cNvSpPr txBox="1"/>
          <p:nvPr/>
        </p:nvSpPr>
        <p:spPr>
          <a:xfrm>
            <a:off x="448056" y="315468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 i="0">
                <a:solidFill>
                  <a:srgbClr val="006E96"/>
                </a:solidFill>
                <a:latin typeface="Verdana"/>
              </a:rPr>
              <a:t>De Novo Molecular Generation in a Continuous Latent Space</a:t>
            </a:r>
          </a:p>
        </p:txBody>
      </p:sp>
      <p:sp>
        <p:nvSpPr>
          <p:cNvPr id="104" name="Team details"/>
          <p:cNvSpPr txBox="1"/>
          <p:nvPr/>
        </p:nvSpPr>
        <p:spPr>
          <a:xfrm>
            <a:off x="448056" y="4114800"/>
            <a:ext cx="6309360" cy="1554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A1A1A"/>
                </a:solidFill>
                <a:latin typeface="Verdana"/>
              </a:rPr>
              <a:t>Team Details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Verdana"/>
              </a:rPr>
              <a:t>23BT04098 - Harshil Patel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Verdana"/>
              </a:rPr>
              <a:t>23BT04123 - Varun Patel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Verdana"/>
              </a:rPr>
              <a:t>24BT04D213 - Dharmik Gajjar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2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12" name="Google Shape;112;p2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5" name="Google Shape;1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2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17" name="Google Shape;117;p2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18" name="Google Shape;118;p2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2"/>
            <p:cNvSpPr txBox="1"/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Drug Discovery Using VAEs</a:t>
              </a:r>
              <a:endParaRPr/>
            </a:p>
          </p:txBody>
        </p:sp>
        <p:grpSp>
          <p:nvGrpSpPr>
            <p:cNvPr id="120" name="Google Shape;120;p2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21" name="Google Shape;121;p2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3" name="Google Shape;123;p2"/>
          <p:cNvSpPr txBox="1"/>
          <p:nvPr/>
        </p:nvSpPr>
        <p:spPr>
          <a:xfrm>
            <a:off x="450774" y="900322"/>
            <a:ext cx="491370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Outline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" name="Outline list"/>
          <p:cNvSpPr txBox="1"/>
          <p:nvPr/>
        </p:nvSpPr>
        <p:spPr>
          <a:xfrm>
            <a:off x="475488" y="1371600"/>
            <a:ext cx="6492240" cy="45720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006E96"/>
                </a:solidFill>
                <a:latin typeface="Verdana"/>
              </a:rPr>
              <a:t>1.  </a:t>
            </a:r>
            <a:r>
              <a:rPr sz="2000" b="0" i="0">
                <a:solidFill>
                  <a:srgbClr val="1A1A1A"/>
                </a:solidFill>
                <a:latin typeface="Verdana"/>
              </a:rPr>
              <a:t>Problem Statement</a:t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006E96"/>
                </a:solidFill>
                <a:latin typeface="Verdana"/>
              </a:rPr>
              <a:t>2.  </a:t>
            </a:r>
            <a:r>
              <a:rPr sz="2000" b="0" i="0">
                <a:solidFill>
                  <a:srgbClr val="1A1A1A"/>
                </a:solidFill>
                <a:latin typeface="Verdana"/>
              </a:rPr>
              <a:t>Objectives</a:t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006E96"/>
                </a:solidFill>
                <a:latin typeface="Verdana"/>
              </a:rPr>
              <a:t>3.  </a:t>
            </a:r>
            <a:r>
              <a:rPr sz="2000" b="0" i="0">
                <a:solidFill>
                  <a:srgbClr val="1A1A1A"/>
                </a:solidFill>
                <a:latin typeface="Verdana"/>
              </a:rPr>
              <a:t>Tools and Techniques</a:t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006E96"/>
                </a:solidFill>
                <a:latin typeface="Verdana"/>
              </a:rPr>
              <a:t>4.  </a:t>
            </a:r>
            <a:r>
              <a:rPr sz="2000" b="0" i="0">
                <a:solidFill>
                  <a:srgbClr val="1A1A1A"/>
                </a:solidFill>
                <a:latin typeface="Verdana"/>
              </a:rPr>
              <a:t>Methodology, Diagrams and Algorithms</a:t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006E96"/>
                </a:solidFill>
                <a:latin typeface="Verdana"/>
              </a:rPr>
              <a:t>5.  </a:t>
            </a:r>
            <a:r>
              <a:rPr sz="2000" b="0" i="0">
                <a:solidFill>
                  <a:srgbClr val="1A1A1A"/>
                </a:solidFill>
                <a:latin typeface="Verdana"/>
              </a:rPr>
              <a:t>Results and Discussion</a:t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006E96"/>
                </a:solidFill>
                <a:latin typeface="Verdana"/>
              </a:rPr>
              <a:t>6.  </a:t>
            </a:r>
            <a:r>
              <a:rPr sz="2000" b="0" i="0">
                <a:solidFill>
                  <a:srgbClr val="1A1A1A"/>
                </a:solidFill>
                <a:latin typeface="Verdana"/>
              </a:rPr>
              <a:t>Project Demonstration – link</a:t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006E96"/>
                </a:solidFill>
                <a:latin typeface="Verdana"/>
              </a:rPr>
              <a:t>7.  </a:t>
            </a:r>
            <a:r>
              <a:rPr sz="2000" b="0" i="0">
                <a:solidFill>
                  <a:srgbClr val="1A1A1A"/>
                </a:solidFill>
                <a:latin typeface="Verdana"/>
              </a:rPr>
              <a:t>Conclusion and Future Scope</a:t>
            </a:r>
          </a:p>
        </p:txBody>
      </p:sp>
      <p:sp>
        <p:nvSpPr>
          <p:cNvPr id="125" name="Key numbers panel"/>
          <p:cNvSpPr/>
          <p:nvPr/>
        </p:nvSpPr>
        <p:spPr>
          <a:xfrm>
            <a:off x="7315200" y="1463040"/>
            <a:ext cx="4434840" cy="4434840"/>
          </a:xfrm>
          <a:prstGeom prst="roundRect">
            <a:avLst>
              <a:gd name="adj" fmla="val 7000"/>
            </a:avLst>
          </a:prstGeom>
          <a:solidFill>
            <a:srgbClr val="F2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Panel title"/>
          <p:cNvSpPr txBox="1"/>
          <p:nvPr/>
        </p:nvSpPr>
        <p:spPr>
          <a:xfrm>
            <a:off x="7498079" y="1554480"/>
            <a:ext cx="406908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Project at a glance</a:t>
            </a:r>
          </a:p>
        </p:txBody>
      </p:sp>
      <p:sp>
        <p:nvSpPr>
          <p:cNvPr id="127" name="Stat 249,455"/>
          <p:cNvSpPr/>
          <p:nvPr/>
        </p:nvSpPr>
        <p:spPr>
          <a:xfrm>
            <a:off x="7498079" y="2057400"/>
            <a:ext cx="1965960" cy="169164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400" b="1" i="0">
                <a:solidFill>
                  <a:srgbClr val="006E96"/>
                </a:solidFill>
                <a:latin typeface="Verdana"/>
              </a:rPr>
              <a:t>249,455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ZINC training molecules</a:t>
            </a:r>
          </a:p>
        </p:txBody>
      </p:sp>
      <p:sp>
        <p:nvSpPr>
          <p:cNvPr id="128" name="Stat 64-D"/>
          <p:cNvSpPr/>
          <p:nvPr/>
        </p:nvSpPr>
        <p:spPr>
          <a:xfrm>
            <a:off x="9601200" y="2057400"/>
            <a:ext cx="1965960" cy="169164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400" b="1" i="0">
                <a:solidFill>
                  <a:srgbClr val="006E96"/>
                </a:solidFill>
                <a:latin typeface="Verdana"/>
              </a:rPr>
              <a:t>64-D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latent space (GRU VAE)</a:t>
            </a:r>
          </a:p>
        </p:txBody>
      </p:sp>
      <p:sp>
        <p:nvSpPr>
          <p:cNvPr id="129" name="Stat 81,267"/>
          <p:cNvSpPr/>
          <p:nvPr/>
        </p:nvSpPr>
        <p:spPr>
          <a:xfrm>
            <a:off x="7498079" y="3977639"/>
            <a:ext cx="1965960" cy="1691640"/>
          </a:xfrm>
          <a:prstGeom prst="roundRect">
            <a:avLst>
              <a:gd name="adj" fmla="val 7000"/>
            </a:avLst>
          </a:prstGeom>
          <a:solidFill>
            <a:srgbClr val="FF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400" b="1" i="0">
                <a:solidFill>
                  <a:srgbClr val="006E96"/>
                </a:solidFill>
                <a:latin typeface="Verdana"/>
              </a:rPr>
              <a:t>81,267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novel, valid molecules</a:t>
            </a:r>
          </a:p>
        </p:txBody>
      </p:sp>
      <p:sp>
        <p:nvSpPr>
          <p:cNvPr id="130" name="Stat 0.72"/>
          <p:cNvSpPr/>
          <p:nvPr/>
        </p:nvSpPr>
        <p:spPr>
          <a:xfrm>
            <a:off x="9601200" y="3977639"/>
            <a:ext cx="1965960" cy="169164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400" b="1" i="0">
                <a:solidFill>
                  <a:srgbClr val="006E96"/>
                </a:solidFill>
                <a:latin typeface="Verdana"/>
              </a:rPr>
              <a:t>0.72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average QED (drug-likeness)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4" name="Google Shape;134;p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3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3"/>
          <p:cNvSpPr txBox="1"/>
          <p:nvPr/>
        </p:nvSpPr>
        <p:spPr>
          <a:xfrm>
            <a:off x="450774" y="900322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Problem Statement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38600" y="20906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Discovery Using VAEs</a:t>
            </a:r>
            <a:endParaRPr/>
          </a:p>
        </p:txBody>
      </p:sp>
      <p:sp>
        <p:nvSpPr>
          <p:cNvPr id="147" name="Stat $2.6 B"/>
          <p:cNvSpPr/>
          <p:nvPr/>
        </p:nvSpPr>
        <p:spPr>
          <a:xfrm>
            <a:off x="448056" y="1481328"/>
            <a:ext cx="3685032" cy="155448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3600" b="1" i="0">
                <a:solidFill>
                  <a:srgbClr val="006E96"/>
                </a:solidFill>
                <a:latin typeface="Verdana"/>
              </a:rPr>
              <a:t>$2.6 B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Verdana"/>
              </a:rPr>
              <a:t>average cost to bring one new drug to market</a:t>
            </a:r>
          </a:p>
        </p:txBody>
      </p:sp>
      <p:sp>
        <p:nvSpPr>
          <p:cNvPr id="148" name="Stat 10–15 yrs"/>
          <p:cNvSpPr/>
          <p:nvPr/>
        </p:nvSpPr>
        <p:spPr>
          <a:xfrm>
            <a:off x="4261104" y="1481328"/>
            <a:ext cx="3685032" cy="155448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3600" b="1" i="0">
                <a:solidFill>
                  <a:srgbClr val="006E96"/>
                </a:solidFill>
                <a:latin typeface="Verdana"/>
              </a:rPr>
              <a:t>10–15 yrs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Verdana"/>
              </a:rPr>
              <a:t>from discovery to approval, mostly lab trial-and-error</a:t>
            </a:r>
          </a:p>
        </p:txBody>
      </p:sp>
      <p:sp>
        <p:nvSpPr>
          <p:cNvPr id="149" name="Stat &gt; 90 %"/>
          <p:cNvSpPr/>
          <p:nvPr/>
        </p:nvSpPr>
        <p:spPr>
          <a:xfrm>
            <a:off x="8074152" y="1481328"/>
            <a:ext cx="3685032" cy="1554480"/>
          </a:xfrm>
          <a:prstGeom prst="roundRect">
            <a:avLst>
              <a:gd name="adj" fmla="val 7000"/>
            </a:avLst>
          </a:prstGeom>
          <a:solidFill>
            <a:srgbClr val="FF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3600" b="1" i="0">
                <a:solidFill>
                  <a:srgbClr val="006E96"/>
                </a:solidFill>
                <a:latin typeface="Verdana"/>
              </a:rPr>
              <a:t>&gt; 90 %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Verdana"/>
              </a:rPr>
              <a:t>of candidates fail in clinical trials</a:t>
            </a:r>
          </a:p>
        </p:txBody>
      </p:sp>
      <p:sp>
        <p:nvSpPr>
          <p:cNvPr id="150" name="Search space card"/>
          <p:cNvSpPr/>
          <p:nvPr/>
        </p:nvSpPr>
        <p:spPr>
          <a:xfrm>
            <a:off x="448056" y="3291840"/>
            <a:ext cx="5669280" cy="2743200"/>
          </a:xfrm>
          <a:prstGeom prst="roundRect">
            <a:avLst>
              <a:gd name="adj" fmla="val 7000"/>
            </a:avLst>
          </a:prstGeom>
          <a:solidFill>
            <a:srgbClr val="F2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Card title"/>
          <p:cNvSpPr txBox="1"/>
          <p:nvPr/>
        </p:nvSpPr>
        <p:spPr>
          <a:xfrm>
            <a:off x="594360" y="3364992"/>
            <a:ext cx="539496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Search space vs. screening capacity</a:t>
            </a:r>
          </a:p>
        </p:txBody>
      </p:sp>
      <p:sp>
        <p:nvSpPr>
          <p:cNvPr id="152" name="Chemical space bar"/>
          <p:cNvSpPr/>
          <p:nvPr/>
        </p:nvSpPr>
        <p:spPr>
          <a:xfrm>
            <a:off x="685800" y="3977639"/>
            <a:ext cx="5212080" cy="566928"/>
          </a:xfrm>
          <a:prstGeom prst="roundRect">
            <a:avLst>
              <a:gd name="adj" fmla="val 7000"/>
            </a:avLst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Verdana"/>
              </a:rPr>
              <a:t>10</a:t>
            </a:r>
            <a:r>
              <a:rPr sz="1500" b="1" i="0" baseline="30000">
                <a:solidFill>
                  <a:srgbClr val="FFFFFF"/>
                </a:solidFill>
                <a:latin typeface="Verdana"/>
              </a:rPr>
              <a:t>60</a:t>
            </a:r>
            <a:r>
              <a:rPr sz="1500" b="1" i="0">
                <a:solidFill>
                  <a:srgbClr val="FFFFFF"/>
                </a:solidFill>
                <a:latin typeface="Verdana"/>
              </a:rPr>
              <a:t> – 10</a:t>
            </a:r>
            <a:r>
              <a:rPr sz="1500" b="1" i="0" baseline="30000">
                <a:solidFill>
                  <a:srgbClr val="FFFFFF"/>
                </a:solidFill>
                <a:latin typeface="Verdana"/>
              </a:rPr>
              <a:t>68</a:t>
            </a:r>
            <a:r>
              <a:rPr sz="1500" b="1" i="0">
                <a:solidFill>
                  <a:srgbClr val="FFFFFF"/>
                </a:solidFill>
                <a:latin typeface="Verdana"/>
              </a:rPr>
              <a:t>  drug-like molecules</a:t>
            </a:r>
          </a:p>
        </p:txBody>
      </p:sp>
      <p:sp>
        <p:nvSpPr>
          <p:cNvPr id="153" name="Screening bar"/>
          <p:cNvSpPr/>
          <p:nvPr/>
        </p:nvSpPr>
        <p:spPr>
          <a:xfrm>
            <a:off x="685800" y="4800600"/>
            <a:ext cx="274320" cy="566928"/>
          </a:xfrm>
          <a:prstGeom prst="roundRect">
            <a:avLst>
              <a:gd name="adj" fmla="val 7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Screening label"/>
          <p:cNvSpPr txBox="1"/>
          <p:nvPr/>
        </p:nvSpPr>
        <p:spPr>
          <a:xfrm>
            <a:off x="1051560" y="4773168"/>
            <a:ext cx="4937760" cy="640080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≤ 10</a:t>
            </a:r>
            <a:r>
              <a:rPr sz="1400" b="0" i="0" baseline="30000">
                <a:solidFill>
                  <a:srgbClr val="1A1A1A"/>
                </a:solidFill>
                <a:latin typeface="Verdana"/>
              </a:rPr>
              <a:t>7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  compounds testable by screening</a:t>
            </a:r>
          </a:p>
        </p:txBody>
      </p:sp>
      <p:sp>
        <p:nvSpPr>
          <p:cNvPr id="155" name="Caption"/>
          <p:cNvSpPr txBox="1"/>
          <p:nvPr/>
        </p:nvSpPr>
        <p:spPr>
          <a:xfrm>
            <a:off x="594360" y="5486400"/>
            <a:ext cx="5394960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Verdana"/>
              </a:rPr>
              <a:t>Not to scale: the gap is 50+ orders of magnitude</a:t>
            </a:r>
          </a:p>
        </p:txBody>
      </p:sp>
      <p:sp>
        <p:nvSpPr>
          <p:cNvPr id="156" name="Problem statement card"/>
          <p:cNvSpPr/>
          <p:nvPr/>
        </p:nvSpPr>
        <p:spPr>
          <a:xfrm>
            <a:off x="6263640" y="3291840"/>
            <a:ext cx="5486400" cy="274320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Card title"/>
          <p:cNvSpPr txBox="1"/>
          <p:nvPr/>
        </p:nvSpPr>
        <p:spPr>
          <a:xfrm>
            <a:off x="6400800" y="3364992"/>
            <a:ext cx="521208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Problem statement</a:t>
            </a:r>
          </a:p>
        </p:txBody>
      </p:sp>
      <p:sp>
        <p:nvSpPr>
          <p:cNvPr id="158" name="Problem statement text"/>
          <p:cNvSpPr txBox="1"/>
          <p:nvPr/>
        </p:nvSpPr>
        <p:spPr>
          <a:xfrm>
            <a:off x="6400800" y="3840480"/>
            <a:ext cx="5212080" cy="214884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Verdana"/>
              </a:rPr>
              <a:t>Physical screening can only sample a tiny fraction of chemical space. We need a generative model that learns the grammar of chemistry from data and proposes novel, valid, drug-like molecules directly.</a:t>
            </a:r>
          </a:p>
          <a:p>
            <a:pPr algn="l"/>
            <a:r>
              <a:rPr sz="1600" b="1" i="0">
                <a:solidFill>
                  <a:srgbClr val="1A1A1A"/>
                </a:solidFill>
                <a:latin typeface="Verdana"/>
              </a:rPr>
              <a:t>Our approach: </a:t>
            </a:r>
            <a:r>
              <a:rPr sz="1600" b="0" i="0">
                <a:solidFill>
                  <a:srgbClr val="1A1A1A"/>
                </a:solidFill>
                <a:latin typeface="Verdana"/>
              </a:rPr>
              <a:t>learn a 64-D latent space with a VAE, then sample new molecules from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4" name="Google Shape;134;p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4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3"/>
          <p:cNvSpPr txBox="1"/>
          <p:nvPr/>
        </p:nvSpPr>
        <p:spPr>
          <a:xfrm>
            <a:off x="450774" y="900322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Objectives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38600" y="20906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Discovery Using VAEs</a:t>
            </a:r>
            <a:endParaRPr/>
          </a:p>
        </p:txBody>
      </p:sp>
      <p:sp>
        <p:nvSpPr>
          <p:cNvPr id="147" name="Objective 1 row"/>
          <p:cNvSpPr/>
          <p:nvPr/>
        </p:nvSpPr>
        <p:spPr>
          <a:xfrm>
            <a:off x="448056" y="1481328"/>
            <a:ext cx="11301984" cy="804672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bjective 1 badge"/>
          <p:cNvSpPr/>
          <p:nvPr/>
        </p:nvSpPr>
        <p:spPr>
          <a:xfrm>
            <a:off x="621792" y="1609344"/>
            <a:ext cx="548640" cy="548640"/>
          </a:xfrm>
          <a:prstGeom prst="ellipse">
            <a:avLst/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Verdana"/>
              </a:rPr>
              <a:t>1</a:t>
            </a:r>
          </a:p>
        </p:txBody>
      </p:sp>
      <p:sp>
        <p:nvSpPr>
          <p:cNvPr id="149" name="Objective 1 text"/>
          <p:cNvSpPr txBox="1"/>
          <p:nvPr/>
        </p:nvSpPr>
        <p:spPr>
          <a:xfrm>
            <a:off x="1371600" y="1517904"/>
            <a:ext cx="10241280" cy="731520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Verdana"/>
              </a:rPr>
              <a:t>Learn the grammar of chemistry: </a:t>
            </a:r>
            <a:r>
              <a:rPr sz="1600" b="0" i="0">
                <a:solidFill>
                  <a:srgbClr val="1A1A1A"/>
                </a:solidFill>
                <a:latin typeface="Verdana"/>
              </a:rPr>
              <a:t>train on 249,455 drug-like ZINC molecules written as SMILES strings.</a:t>
            </a:r>
          </a:p>
        </p:txBody>
      </p:sp>
      <p:sp>
        <p:nvSpPr>
          <p:cNvPr id="150" name="Objective 2 row"/>
          <p:cNvSpPr/>
          <p:nvPr/>
        </p:nvSpPr>
        <p:spPr>
          <a:xfrm>
            <a:off x="448056" y="2395728"/>
            <a:ext cx="11301984" cy="804672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bjective 2 badge"/>
          <p:cNvSpPr/>
          <p:nvPr/>
        </p:nvSpPr>
        <p:spPr>
          <a:xfrm>
            <a:off x="621792" y="2523744"/>
            <a:ext cx="548640" cy="548640"/>
          </a:xfrm>
          <a:prstGeom prst="ellipse">
            <a:avLst/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Verdana"/>
              </a:rPr>
              <a:t>2</a:t>
            </a:r>
          </a:p>
        </p:txBody>
      </p:sp>
      <p:sp>
        <p:nvSpPr>
          <p:cNvPr id="152" name="Objective 2 text"/>
          <p:cNvSpPr txBox="1"/>
          <p:nvPr/>
        </p:nvSpPr>
        <p:spPr>
          <a:xfrm>
            <a:off x="1371600" y="2432304"/>
            <a:ext cx="10241280" cy="731520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Verdana"/>
              </a:rPr>
              <a:t>Build a GRU-based VAE: </a:t>
            </a:r>
            <a:r>
              <a:rPr sz="1600" b="0" i="0">
                <a:solidFill>
                  <a:srgbClr val="1A1A1A"/>
                </a:solidFill>
                <a:latin typeface="Verdana"/>
              </a:rPr>
              <a:t>compress each molecule into a continuous 64-dimensional latent space.</a:t>
            </a:r>
          </a:p>
        </p:txBody>
      </p:sp>
      <p:sp>
        <p:nvSpPr>
          <p:cNvPr id="153" name="Objective 3 row"/>
          <p:cNvSpPr/>
          <p:nvPr/>
        </p:nvSpPr>
        <p:spPr>
          <a:xfrm>
            <a:off x="448056" y="3310128"/>
            <a:ext cx="11301984" cy="804672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bjective 3 badge"/>
          <p:cNvSpPr/>
          <p:nvPr/>
        </p:nvSpPr>
        <p:spPr>
          <a:xfrm>
            <a:off x="621792" y="3438144"/>
            <a:ext cx="548640" cy="548640"/>
          </a:xfrm>
          <a:prstGeom prst="ellipse">
            <a:avLst/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Verdana"/>
              </a:rPr>
              <a:t>3</a:t>
            </a:r>
          </a:p>
        </p:txBody>
      </p:sp>
      <p:sp>
        <p:nvSpPr>
          <p:cNvPr id="155" name="Objective 3 text"/>
          <p:cNvSpPr txBox="1"/>
          <p:nvPr/>
        </p:nvSpPr>
        <p:spPr>
          <a:xfrm>
            <a:off x="1371600" y="3346704"/>
            <a:ext cx="10241280" cy="731520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Verdana"/>
              </a:rPr>
              <a:t>Generate new molecules: </a:t>
            </a:r>
            <a:r>
              <a:rPr sz="1600" b="0" i="0">
                <a:solidFill>
                  <a:srgbClr val="1A1A1A"/>
                </a:solidFill>
                <a:latin typeface="Verdana"/>
              </a:rPr>
              <a:t>sample z ~ N(0, I) and decode, with no explicit chemistry rules given.</a:t>
            </a:r>
          </a:p>
        </p:txBody>
      </p:sp>
      <p:sp>
        <p:nvSpPr>
          <p:cNvPr id="156" name="Objective 4 row"/>
          <p:cNvSpPr/>
          <p:nvPr/>
        </p:nvSpPr>
        <p:spPr>
          <a:xfrm>
            <a:off x="448056" y="4224528"/>
            <a:ext cx="11301984" cy="804672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bjective 4 badge"/>
          <p:cNvSpPr/>
          <p:nvPr/>
        </p:nvSpPr>
        <p:spPr>
          <a:xfrm>
            <a:off x="621792" y="4352544"/>
            <a:ext cx="548640" cy="548640"/>
          </a:xfrm>
          <a:prstGeom prst="ellipse">
            <a:avLst/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Verdana"/>
              </a:rPr>
              <a:t>4</a:t>
            </a:r>
          </a:p>
        </p:txBody>
      </p:sp>
      <p:sp>
        <p:nvSpPr>
          <p:cNvPr id="158" name="Objective 4 text"/>
          <p:cNvSpPr txBox="1"/>
          <p:nvPr/>
        </p:nvSpPr>
        <p:spPr>
          <a:xfrm>
            <a:off x="1371600" y="4261104"/>
            <a:ext cx="10241280" cy="731520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Verdana"/>
              </a:rPr>
              <a:t>Validate with RDKit: </a:t>
            </a:r>
            <a:r>
              <a:rPr sz="1600" b="0" i="0">
                <a:solidFill>
                  <a:srgbClr val="1A1A1A"/>
                </a:solidFill>
                <a:latin typeface="Verdana"/>
              </a:rPr>
              <a:t>measure validity, uniqueness, novelty, QED and LogP of the output.</a:t>
            </a:r>
          </a:p>
        </p:txBody>
      </p:sp>
      <p:sp>
        <p:nvSpPr>
          <p:cNvPr id="159" name="Objective 5 row"/>
          <p:cNvSpPr/>
          <p:nvPr/>
        </p:nvSpPr>
        <p:spPr>
          <a:xfrm>
            <a:off x="448056" y="5138928"/>
            <a:ext cx="11301984" cy="804672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bjective 5 badge"/>
          <p:cNvSpPr/>
          <p:nvPr/>
        </p:nvSpPr>
        <p:spPr>
          <a:xfrm>
            <a:off x="621792" y="5266944"/>
            <a:ext cx="548640" cy="548640"/>
          </a:xfrm>
          <a:prstGeom prst="ellipse">
            <a:avLst/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Verdana"/>
              </a:rPr>
              <a:t>5</a:t>
            </a:r>
          </a:p>
        </p:txBody>
      </p:sp>
      <p:sp>
        <p:nvSpPr>
          <p:cNvPr id="161" name="Objective 5 text"/>
          <p:cNvSpPr txBox="1"/>
          <p:nvPr/>
        </p:nvSpPr>
        <p:spPr>
          <a:xfrm>
            <a:off x="1371600" y="5175504"/>
            <a:ext cx="10241280" cy="731520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Verdana"/>
              </a:rPr>
              <a:t>Deliver usable outputs: </a:t>
            </a:r>
            <a:r>
              <a:rPr sz="1600" b="0" i="0">
                <a:solidFill>
                  <a:srgbClr val="1A1A1A"/>
                </a:solidFill>
                <a:latin typeface="Verdana"/>
              </a:rPr>
              <a:t>export 81,000+ candidates as CSV and an 84-page PDF structure catalog.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4" name="Google Shape;134;p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5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3"/>
          <p:cNvSpPr txBox="1"/>
          <p:nvPr/>
        </p:nvSpPr>
        <p:spPr>
          <a:xfrm>
            <a:off x="450774" y="900322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Tools and Techniques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38600" y="20906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Discovery Using VAEs</a:t>
            </a:r>
            <a:endParaRPr/>
          </a:p>
        </p:txBody>
      </p:sp>
      <p:sp>
        <p:nvSpPr>
          <p:cNvPr id="147" name="Tool PyTorch"/>
          <p:cNvSpPr/>
          <p:nvPr/>
        </p:nvSpPr>
        <p:spPr>
          <a:xfrm>
            <a:off x="448056" y="1481328"/>
            <a:ext cx="3639312" cy="164592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PyTorch title"/>
          <p:cNvSpPr txBox="1"/>
          <p:nvPr/>
        </p:nvSpPr>
        <p:spPr>
          <a:xfrm>
            <a:off x="539496" y="1591056"/>
            <a:ext cx="3456432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800" b="1" i="0">
                <a:solidFill>
                  <a:srgbClr val="006E96"/>
                </a:solidFill>
                <a:latin typeface="Verdana"/>
              </a:rPr>
              <a:t>PyTorch</a:t>
            </a:r>
          </a:p>
        </p:txBody>
      </p:sp>
      <p:sp>
        <p:nvSpPr>
          <p:cNvPr id="149" name="PyTorch detail"/>
          <p:cNvSpPr txBox="1"/>
          <p:nvPr/>
        </p:nvSpPr>
        <p:spPr>
          <a:xfrm>
            <a:off x="539496" y="2075688"/>
            <a:ext cx="3456432" cy="100584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GRU encoder–decoder VAE, Adam optimiser, GPU training and checkpoints</a:t>
            </a:r>
          </a:p>
        </p:txBody>
      </p:sp>
      <p:sp>
        <p:nvSpPr>
          <p:cNvPr id="150" name="Tool RDKit"/>
          <p:cNvSpPr/>
          <p:nvPr/>
        </p:nvSpPr>
        <p:spPr>
          <a:xfrm>
            <a:off x="4279392" y="1481328"/>
            <a:ext cx="3639312" cy="164592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DKit title"/>
          <p:cNvSpPr txBox="1"/>
          <p:nvPr/>
        </p:nvSpPr>
        <p:spPr>
          <a:xfrm>
            <a:off x="4370832" y="1591056"/>
            <a:ext cx="3456432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800" b="1" i="0">
                <a:solidFill>
                  <a:srgbClr val="006E96"/>
                </a:solidFill>
                <a:latin typeface="Verdana"/>
              </a:rPr>
              <a:t>RDKit</a:t>
            </a:r>
          </a:p>
        </p:txBody>
      </p:sp>
      <p:sp>
        <p:nvSpPr>
          <p:cNvPr id="152" name="RDKit detail"/>
          <p:cNvSpPr txBox="1"/>
          <p:nvPr/>
        </p:nvSpPr>
        <p:spPr>
          <a:xfrm>
            <a:off x="4370832" y="2075688"/>
            <a:ext cx="3456432" cy="100584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SMILES parsing, validity checks, QED, Crippen LogP and 2D drawings</a:t>
            </a:r>
          </a:p>
        </p:txBody>
      </p:sp>
      <p:sp>
        <p:nvSpPr>
          <p:cNvPr id="153" name="Tool NumPy / Pandas"/>
          <p:cNvSpPr/>
          <p:nvPr/>
        </p:nvSpPr>
        <p:spPr>
          <a:xfrm>
            <a:off x="8110728" y="1481328"/>
            <a:ext cx="3639312" cy="1645920"/>
          </a:xfrm>
          <a:prstGeom prst="roundRect">
            <a:avLst>
              <a:gd name="adj" fmla="val 7000"/>
            </a:avLst>
          </a:prstGeom>
          <a:solidFill>
            <a:srgbClr val="FF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NumPy / Pandas title"/>
          <p:cNvSpPr txBox="1"/>
          <p:nvPr/>
        </p:nvSpPr>
        <p:spPr>
          <a:xfrm>
            <a:off x="8202168" y="1591056"/>
            <a:ext cx="3456432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800" b="1" i="0">
                <a:solidFill>
                  <a:srgbClr val="006E96"/>
                </a:solidFill>
                <a:latin typeface="Verdana"/>
              </a:rPr>
              <a:t>NumPy / Pandas</a:t>
            </a:r>
          </a:p>
        </p:txBody>
      </p:sp>
      <p:sp>
        <p:nvSpPr>
          <p:cNvPr id="155" name="NumPy / Pandas detail"/>
          <p:cNvSpPr txBox="1"/>
          <p:nvPr/>
        </p:nvSpPr>
        <p:spPr>
          <a:xfrm>
            <a:off x="8202168" y="2075688"/>
            <a:ext cx="3456432" cy="100584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Dataset loading, tokenised tensors (224,509 × 122) and CSV exports</a:t>
            </a:r>
          </a:p>
        </p:txBody>
      </p:sp>
      <p:sp>
        <p:nvSpPr>
          <p:cNvPr id="156" name="Tool scikit-learn"/>
          <p:cNvSpPr/>
          <p:nvPr/>
        </p:nvSpPr>
        <p:spPr>
          <a:xfrm>
            <a:off x="448056" y="3310128"/>
            <a:ext cx="3639312" cy="164592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scikit-learn title"/>
          <p:cNvSpPr txBox="1"/>
          <p:nvPr/>
        </p:nvSpPr>
        <p:spPr>
          <a:xfrm>
            <a:off x="539496" y="3419856"/>
            <a:ext cx="3456432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800" b="1" i="0">
                <a:solidFill>
                  <a:srgbClr val="006E96"/>
                </a:solidFill>
                <a:latin typeface="Verdana"/>
              </a:rPr>
              <a:t>scikit-learn</a:t>
            </a:r>
          </a:p>
        </p:txBody>
      </p:sp>
      <p:sp>
        <p:nvSpPr>
          <p:cNvPr id="158" name="scikit-learn detail"/>
          <p:cNvSpPr txBox="1"/>
          <p:nvPr/>
        </p:nvSpPr>
        <p:spPr>
          <a:xfrm>
            <a:off x="539496" y="3904488"/>
            <a:ext cx="3456432" cy="100584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90/10 train–test split, PCA and t-SNE latent-space maps</a:t>
            </a:r>
          </a:p>
        </p:txBody>
      </p:sp>
      <p:sp>
        <p:nvSpPr>
          <p:cNvPr id="159" name="Tool Matplotlib / Seaborn"/>
          <p:cNvSpPr/>
          <p:nvPr/>
        </p:nvSpPr>
        <p:spPr>
          <a:xfrm>
            <a:off x="4279392" y="3310128"/>
            <a:ext cx="3639312" cy="164592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Matplotlib / Seaborn title"/>
          <p:cNvSpPr txBox="1"/>
          <p:nvPr/>
        </p:nvSpPr>
        <p:spPr>
          <a:xfrm>
            <a:off x="4370832" y="3419856"/>
            <a:ext cx="3456432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800" b="1" i="0">
                <a:solidFill>
                  <a:srgbClr val="006E96"/>
                </a:solidFill>
                <a:latin typeface="Verdana"/>
              </a:rPr>
              <a:t>Matplotlib / Seaborn</a:t>
            </a:r>
          </a:p>
        </p:txBody>
      </p:sp>
      <p:sp>
        <p:nvSpPr>
          <p:cNvPr id="161" name="Matplotlib / Seaborn detail"/>
          <p:cNvSpPr txBox="1"/>
          <p:nvPr/>
        </p:nvSpPr>
        <p:spPr>
          <a:xfrm>
            <a:off x="4370832" y="3904488"/>
            <a:ext cx="3456432" cy="100584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Loss curves, property distributions and the 84-page PDF catalog</a:t>
            </a:r>
          </a:p>
        </p:txBody>
      </p:sp>
      <p:sp>
        <p:nvSpPr>
          <p:cNvPr id="162" name="Tool Jupyter Notebooks"/>
          <p:cNvSpPr/>
          <p:nvPr/>
        </p:nvSpPr>
        <p:spPr>
          <a:xfrm>
            <a:off x="8110728" y="3310128"/>
            <a:ext cx="3639312" cy="1645920"/>
          </a:xfrm>
          <a:prstGeom prst="roundRect">
            <a:avLst>
              <a:gd name="adj" fmla="val 7000"/>
            </a:avLst>
          </a:prstGeom>
          <a:solidFill>
            <a:srgbClr val="FF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Jupyter Notebooks title"/>
          <p:cNvSpPr txBox="1"/>
          <p:nvPr/>
        </p:nvSpPr>
        <p:spPr>
          <a:xfrm>
            <a:off x="8202168" y="3419856"/>
            <a:ext cx="3456432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800" b="1" i="0">
                <a:solidFill>
                  <a:srgbClr val="006E96"/>
                </a:solidFill>
                <a:latin typeface="Verdana"/>
              </a:rPr>
              <a:t>Jupyter Notebooks</a:t>
            </a:r>
          </a:p>
        </p:txBody>
      </p:sp>
      <p:sp>
        <p:nvSpPr>
          <p:cNvPr id="164" name="Jupyter Notebooks detail"/>
          <p:cNvSpPr txBox="1"/>
          <p:nvPr/>
        </p:nvSpPr>
        <p:spPr>
          <a:xfrm>
            <a:off x="8202168" y="3904488"/>
            <a:ext cx="3456432" cy="100584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Six notebooks: EDA, preprocessing, training, generation, visualization, 100k evaluation</a:t>
            </a:r>
          </a:p>
        </p:txBody>
      </p:sp>
      <p:sp>
        <p:nvSpPr>
          <p:cNvPr id="165" name="Techniques strip"/>
          <p:cNvSpPr/>
          <p:nvPr/>
        </p:nvSpPr>
        <p:spPr>
          <a:xfrm>
            <a:off x="448056" y="5212080"/>
            <a:ext cx="11301984" cy="777240"/>
          </a:xfrm>
          <a:prstGeom prst="roundRect">
            <a:avLst>
              <a:gd name="adj" fmla="val 7000"/>
            </a:avLst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Techniques: 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Variational Autoencoder · GRU sequence model · Reparameterization trick · β-weighted ELBO · Temperature sampling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4" name="Google Shape;134;p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6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3"/>
          <p:cNvSpPr txBox="1"/>
          <p:nvPr/>
        </p:nvSpPr>
        <p:spPr>
          <a:xfrm>
            <a:off x="450774" y="900322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Dataset and SMILES Representation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38600" y="20906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Discovery Using VAEs</a:t>
            </a:r>
            <a:endParaRPr/>
          </a:p>
        </p:txBody>
      </p:sp>
      <p:sp>
        <p:nvSpPr>
          <p:cNvPr id="147" name="Stat 249,455"/>
          <p:cNvSpPr/>
          <p:nvPr/>
        </p:nvSpPr>
        <p:spPr>
          <a:xfrm>
            <a:off x="448056" y="1481328"/>
            <a:ext cx="2468880" cy="109728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600" b="1" i="0">
                <a:solidFill>
                  <a:srgbClr val="006E96"/>
                </a:solidFill>
                <a:latin typeface="Verdana"/>
              </a:rPr>
              <a:t>249,455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Verdana"/>
              </a:rPr>
              <a:t>ZINC molecules</a:t>
            </a:r>
          </a:p>
        </p:txBody>
      </p:sp>
      <p:sp>
        <p:nvSpPr>
          <p:cNvPr id="148" name="Stat 4"/>
          <p:cNvSpPr/>
          <p:nvPr/>
        </p:nvSpPr>
        <p:spPr>
          <a:xfrm>
            <a:off x="3063240" y="1481328"/>
            <a:ext cx="2468880" cy="109728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600" b="1" i="0">
                <a:solidFill>
                  <a:srgbClr val="006E96"/>
                </a:solidFill>
                <a:latin typeface="Verdana"/>
              </a:rPr>
              <a:t>4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columns: smiles, logP, qed, SAS</a:t>
            </a:r>
          </a:p>
        </p:txBody>
      </p:sp>
      <p:sp>
        <p:nvSpPr>
          <p:cNvPr id="149" name="Stat 110"/>
          <p:cNvSpPr/>
          <p:nvPr/>
        </p:nvSpPr>
        <p:spPr>
          <a:xfrm>
            <a:off x="448056" y="2724912"/>
            <a:ext cx="2468880" cy="1097280"/>
          </a:xfrm>
          <a:prstGeom prst="roundRect">
            <a:avLst>
              <a:gd name="adj" fmla="val 7000"/>
            </a:avLst>
          </a:prstGeom>
          <a:solidFill>
            <a:srgbClr val="FF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600" b="1" i="0">
                <a:solidFill>
                  <a:srgbClr val="006E96"/>
                </a:solidFill>
                <a:latin typeface="Verdana"/>
              </a:rPr>
              <a:t>110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max SMILES length (chars)</a:t>
            </a:r>
          </a:p>
        </p:txBody>
      </p:sp>
      <p:sp>
        <p:nvSpPr>
          <p:cNvPr id="150" name="Stat 45.31"/>
          <p:cNvSpPr/>
          <p:nvPr/>
        </p:nvSpPr>
        <p:spPr>
          <a:xfrm>
            <a:off x="3063240" y="2724912"/>
            <a:ext cx="2468880" cy="109728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600" b="1" i="0">
                <a:solidFill>
                  <a:srgbClr val="006E96"/>
                </a:solidFill>
                <a:latin typeface="Verdana"/>
              </a:rPr>
              <a:t>45.31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mean SMILES length (chars)</a:t>
            </a:r>
          </a:p>
        </p:txBody>
      </p:sp>
      <p:sp>
        <p:nvSpPr>
          <p:cNvPr id="151" name="SMILES grammar card"/>
          <p:cNvSpPr/>
          <p:nvPr/>
        </p:nvSpPr>
        <p:spPr>
          <a:xfrm>
            <a:off x="448056" y="4023360"/>
            <a:ext cx="5084064" cy="2057400"/>
          </a:xfrm>
          <a:prstGeom prst="roundRect">
            <a:avLst>
              <a:gd name="adj" fmla="val 7000"/>
            </a:avLst>
          </a:prstGeom>
          <a:solidFill>
            <a:srgbClr val="F2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SMILES grammar"/>
          <p:cNvSpPr txBox="1"/>
          <p:nvPr/>
        </p:nvSpPr>
        <p:spPr>
          <a:xfrm>
            <a:off x="548640" y="4069080"/>
            <a:ext cx="4846320" cy="1965960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A1A1A"/>
                </a:solidFill>
                <a:latin typeface="Verdana"/>
              </a:rPr>
              <a:t>Atoms  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C N O F Cl Br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A1A1A"/>
                </a:solidFill>
                <a:latin typeface="Verdana"/>
              </a:rPr>
              <a:t>Aromatic  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lowercase c n o s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A1A1A"/>
                </a:solidFill>
                <a:latin typeface="Verdana"/>
              </a:rPr>
              <a:t>Bonds  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= double, # triple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A1A1A"/>
                </a:solidFill>
                <a:latin typeface="Verdana"/>
              </a:rPr>
              <a:t>Branches  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( … )</a:t>
            </a:r>
          </a:p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Rings  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digits: c1ccccc1 = benzene</a:t>
            </a:r>
          </a:p>
        </p:txBody>
      </p:sp>
      <p:sp>
        <p:nvSpPr>
          <p:cNvPr id="153" name="Molecule card"/>
          <p:cNvSpPr/>
          <p:nvPr/>
        </p:nvSpPr>
        <p:spPr>
          <a:xfrm>
            <a:off x="5760720" y="1481328"/>
            <a:ext cx="5989320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C8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4" name="ZINC row 0 molecule (highlighted)" descr="zinc_row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572768"/>
            <a:ext cx="5394960" cy="3236976"/>
          </a:xfrm>
          <a:prstGeom prst="rect">
            <a:avLst/>
          </a:prstGeom>
        </p:spPr>
      </p:pic>
      <p:sp>
        <p:nvSpPr>
          <p:cNvPr id="155" name="SMILES string"/>
          <p:cNvSpPr txBox="1"/>
          <p:nvPr/>
        </p:nvSpPr>
        <p:spPr>
          <a:xfrm>
            <a:off x="5760720" y="4937760"/>
            <a:ext cx="5989320" cy="36576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ourier New"/>
              </a:rPr>
              <a:t>CC(C)(C)c1ccc2occ(CC(=O)Nc3ccccc3F)c2c1</a:t>
            </a:r>
          </a:p>
        </p:txBody>
      </p:sp>
      <p:sp>
        <p:nvSpPr>
          <p:cNvPr id="156" name="Legend tert-butyl"/>
          <p:cNvSpPr/>
          <p:nvPr/>
        </p:nvSpPr>
        <p:spPr>
          <a:xfrm>
            <a:off x="5760720" y="5394960"/>
            <a:ext cx="1417320" cy="457200"/>
          </a:xfrm>
          <a:prstGeom prst="roundRect">
            <a:avLst>
              <a:gd name="adj" fmla="val 7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Verdana"/>
              </a:rPr>
              <a:t>tert-butyl</a:t>
            </a:r>
          </a:p>
        </p:txBody>
      </p:sp>
      <p:sp>
        <p:nvSpPr>
          <p:cNvPr id="157" name="Legend benzofuran"/>
          <p:cNvSpPr/>
          <p:nvPr/>
        </p:nvSpPr>
        <p:spPr>
          <a:xfrm>
            <a:off x="7269480" y="5394960"/>
            <a:ext cx="1920240" cy="457200"/>
          </a:xfrm>
          <a:prstGeom prst="roundRect">
            <a:avLst>
              <a:gd name="adj" fmla="val 7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Verdana"/>
              </a:rPr>
              <a:t>benzofuran core</a:t>
            </a:r>
          </a:p>
        </p:txBody>
      </p:sp>
      <p:sp>
        <p:nvSpPr>
          <p:cNvPr id="158" name="Legend side chain"/>
          <p:cNvSpPr/>
          <p:nvPr/>
        </p:nvSpPr>
        <p:spPr>
          <a:xfrm>
            <a:off x="9281160" y="5394960"/>
            <a:ext cx="2468880" cy="457200"/>
          </a:xfrm>
          <a:prstGeom prst="roundRect">
            <a:avLst>
              <a:gd name="adj" fmla="val 7000"/>
            </a:avLst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Verdana"/>
              </a:rPr>
              <a:t>amide + fluorobenzene</a:t>
            </a:r>
          </a:p>
        </p:txBody>
      </p:sp>
      <p:sp>
        <p:nvSpPr>
          <p:cNvPr id="159" name="Caption"/>
          <p:cNvSpPr txBox="1"/>
          <p:nvPr/>
        </p:nvSpPr>
        <p:spPr>
          <a:xfrm>
            <a:off x="5760720" y="5870448"/>
            <a:ext cx="5989320" cy="32004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Verdana"/>
              </a:rPr>
              <a:t>Example: row 0 of ZINC 250k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4" name="Google Shape;134;p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7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3"/>
          <p:cNvSpPr txBox="1"/>
          <p:nvPr/>
        </p:nvSpPr>
        <p:spPr>
          <a:xfrm>
            <a:off x="450774" y="900322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Methodology: Preprocessing and Tokenization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38600" y="20906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Discovery Using VAEs</a:t>
            </a:r>
            <a:endParaRPr/>
          </a:p>
        </p:txBody>
      </p:sp>
      <p:sp>
        <p:nvSpPr>
          <p:cNvPr id="147" name="Step 1 card"/>
          <p:cNvSpPr/>
          <p:nvPr/>
        </p:nvSpPr>
        <p:spPr>
          <a:xfrm>
            <a:off x="448056" y="1481328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Step 1 badge"/>
          <p:cNvSpPr/>
          <p:nvPr/>
        </p:nvSpPr>
        <p:spPr>
          <a:xfrm>
            <a:off x="630936" y="1645920"/>
            <a:ext cx="457200" cy="457200"/>
          </a:xfrm>
          <a:prstGeom prst="ellipse">
            <a:avLst/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Verdana"/>
              </a:rPr>
              <a:t>1</a:t>
            </a:r>
          </a:p>
        </p:txBody>
      </p:sp>
      <p:sp>
        <p:nvSpPr>
          <p:cNvPr id="149" name="Step 1 title"/>
          <p:cNvSpPr txBox="1"/>
          <p:nvPr/>
        </p:nvSpPr>
        <p:spPr>
          <a:xfrm>
            <a:off x="539496" y="2212848"/>
            <a:ext cx="242316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Raw ZINC CSV</a:t>
            </a:r>
          </a:p>
        </p:txBody>
      </p:sp>
      <p:sp>
        <p:nvSpPr>
          <p:cNvPr id="150" name="Step 1 detail"/>
          <p:cNvSpPr txBox="1"/>
          <p:nvPr/>
        </p:nvSpPr>
        <p:spPr>
          <a:xfrm>
            <a:off x="539496" y="2578608"/>
            <a:ext cx="2423160" cy="105156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249,455 molecules with smiles, logP, qed and SAS columns</a:t>
            </a:r>
          </a:p>
        </p:txBody>
      </p:sp>
      <p:cxnSp>
        <p:nvCxnSpPr>
          <p:cNvPr id="151" name="Arrow 1"/>
          <p:cNvCxnSpPr/>
          <p:nvPr/>
        </p:nvCxnSpPr>
        <p:spPr>
          <a:xfrm>
            <a:off x="3081527" y="2578608"/>
            <a:ext cx="237745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Step 2 card"/>
          <p:cNvSpPr/>
          <p:nvPr/>
        </p:nvSpPr>
        <p:spPr>
          <a:xfrm>
            <a:off x="3346704" y="1481328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Step 2 badge"/>
          <p:cNvSpPr/>
          <p:nvPr/>
        </p:nvSpPr>
        <p:spPr>
          <a:xfrm>
            <a:off x="3529584" y="1645920"/>
            <a:ext cx="457200" cy="457200"/>
          </a:xfrm>
          <a:prstGeom prst="ellipse">
            <a:avLst/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Verdana"/>
              </a:rPr>
              <a:t>2</a:t>
            </a:r>
          </a:p>
        </p:txBody>
      </p:sp>
      <p:sp>
        <p:nvSpPr>
          <p:cNvPr id="154" name="Step 2 title"/>
          <p:cNvSpPr txBox="1"/>
          <p:nvPr/>
        </p:nvSpPr>
        <p:spPr>
          <a:xfrm>
            <a:off x="3438144" y="2212848"/>
            <a:ext cx="242316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Clean and filter</a:t>
            </a:r>
          </a:p>
        </p:txBody>
      </p:sp>
      <p:sp>
        <p:nvSpPr>
          <p:cNvPr id="155" name="Step 2 detail"/>
          <p:cNvSpPr txBox="1"/>
          <p:nvPr/>
        </p:nvSpPr>
        <p:spPr>
          <a:xfrm>
            <a:off x="3438144" y="2578608"/>
            <a:ext cx="2423160" cy="105156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Drop nulls and duplicates; keep SMILES up to 120 characters (all kept)</a:t>
            </a:r>
          </a:p>
        </p:txBody>
      </p:sp>
      <p:cxnSp>
        <p:nvCxnSpPr>
          <p:cNvPr id="156" name="Arrow 2"/>
          <p:cNvCxnSpPr/>
          <p:nvPr/>
        </p:nvCxnSpPr>
        <p:spPr>
          <a:xfrm>
            <a:off x="5980176" y="2578608"/>
            <a:ext cx="237744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Step 3 card"/>
          <p:cNvSpPr/>
          <p:nvPr/>
        </p:nvSpPr>
        <p:spPr>
          <a:xfrm>
            <a:off x="6245352" y="1481328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Step 3 badge"/>
          <p:cNvSpPr/>
          <p:nvPr/>
        </p:nvSpPr>
        <p:spPr>
          <a:xfrm>
            <a:off x="6428232" y="1645920"/>
            <a:ext cx="457200" cy="457200"/>
          </a:xfrm>
          <a:prstGeom prst="ellipse">
            <a:avLst/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Verdana"/>
              </a:rPr>
              <a:t>3</a:t>
            </a:r>
          </a:p>
        </p:txBody>
      </p:sp>
      <p:sp>
        <p:nvSpPr>
          <p:cNvPr id="159" name="Step 3 title"/>
          <p:cNvSpPr txBox="1"/>
          <p:nvPr/>
        </p:nvSpPr>
        <p:spPr>
          <a:xfrm>
            <a:off x="6336792" y="2212848"/>
            <a:ext cx="242316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Character tokens</a:t>
            </a:r>
          </a:p>
        </p:txBody>
      </p:sp>
      <p:sp>
        <p:nvSpPr>
          <p:cNvPr id="160" name="Step 3 detail"/>
          <p:cNvSpPr txBox="1"/>
          <p:nvPr/>
        </p:nvSpPr>
        <p:spPr>
          <a:xfrm>
            <a:off x="6336792" y="2578608"/>
            <a:ext cx="2423160" cy="105156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35 unique characters plus &lt;PAD&gt;, &lt;SOS&gt;, &lt;EOS&gt; give a 38-token vocabulary</a:t>
            </a:r>
          </a:p>
        </p:txBody>
      </p:sp>
      <p:cxnSp>
        <p:nvCxnSpPr>
          <p:cNvPr id="161" name="Arrow 3"/>
          <p:cNvCxnSpPr/>
          <p:nvPr/>
        </p:nvCxnSpPr>
        <p:spPr>
          <a:xfrm>
            <a:off x="8878824" y="2578608"/>
            <a:ext cx="237744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Step 4 card"/>
          <p:cNvSpPr/>
          <p:nvPr/>
        </p:nvSpPr>
        <p:spPr>
          <a:xfrm>
            <a:off x="9144000" y="1481328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Step 4 badge"/>
          <p:cNvSpPr/>
          <p:nvPr/>
        </p:nvSpPr>
        <p:spPr>
          <a:xfrm>
            <a:off x="9326880" y="1645920"/>
            <a:ext cx="457200" cy="457200"/>
          </a:xfrm>
          <a:prstGeom prst="ellipse">
            <a:avLst/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Verdana"/>
              </a:rPr>
              <a:t>4</a:t>
            </a:r>
          </a:p>
        </p:txBody>
      </p:sp>
      <p:sp>
        <p:nvSpPr>
          <p:cNvPr id="164" name="Step 4 title"/>
          <p:cNvSpPr txBox="1"/>
          <p:nvPr/>
        </p:nvSpPr>
        <p:spPr>
          <a:xfrm>
            <a:off x="9235440" y="2212848"/>
            <a:ext cx="242316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Pad and split</a:t>
            </a:r>
          </a:p>
        </p:txBody>
      </p:sp>
      <p:sp>
        <p:nvSpPr>
          <p:cNvPr id="165" name="Step 4 detail"/>
          <p:cNvSpPr txBox="1"/>
          <p:nvPr/>
        </p:nvSpPr>
        <p:spPr>
          <a:xfrm>
            <a:off x="9235440" y="2578608"/>
            <a:ext cx="2423160" cy="105156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Length 122 (120 + SOS + EOS); 90/10 split: 224,509 train, 24,946 test</a:t>
            </a:r>
          </a:p>
        </p:txBody>
      </p:sp>
      <p:sp>
        <p:nvSpPr>
          <p:cNvPr id="166" name="Example title"/>
          <p:cNvSpPr txBox="1"/>
          <p:nvPr/>
        </p:nvSpPr>
        <p:spPr>
          <a:xfrm>
            <a:off x="448056" y="3886200"/>
            <a:ext cx="731520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Tokenization example: "CC(=O)N" (acetamide)</a:t>
            </a:r>
          </a:p>
        </p:txBody>
      </p:sp>
      <p:sp>
        <p:nvSpPr>
          <p:cNvPr id="167" name="Token &lt;SOS&gt;"/>
          <p:cNvSpPr/>
          <p:nvPr/>
        </p:nvSpPr>
        <p:spPr>
          <a:xfrm>
            <a:off x="448056" y="438912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ourier New"/>
              </a:rPr>
              <a:t>&lt;SOS&gt;</a:t>
            </a:r>
          </a:p>
        </p:txBody>
      </p:sp>
      <p:sp>
        <p:nvSpPr>
          <p:cNvPr id="168" name="ID &lt;SOS&gt;"/>
          <p:cNvSpPr txBox="1"/>
          <p:nvPr/>
        </p:nvSpPr>
        <p:spPr>
          <a:xfrm>
            <a:off x="448056" y="489204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Verdana"/>
              </a:rPr>
              <a:t>1</a:t>
            </a:r>
          </a:p>
        </p:txBody>
      </p:sp>
      <p:sp>
        <p:nvSpPr>
          <p:cNvPr id="169" name="Token C"/>
          <p:cNvSpPr/>
          <p:nvPr/>
        </p:nvSpPr>
        <p:spPr>
          <a:xfrm>
            <a:off x="1389888" y="438912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ourier New"/>
              </a:rPr>
              <a:t>C</a:t>
            </a:r>
          </a:p>
        </p:txBody>
      </p:sp>
      <p:sp>
        <p:nvSpPr>
          <p:cNvPr id="170" name="ID C"/>
          <p:cNvSpPr txBox="1"/>
          <p:nvPr/>
        </p:nvSpPr>
        <p:spPr>
          <a:xfrm>
            <a:off x="1389888" y="489204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Verdana"/>
              </a:rPr>
              <a:t>21</a:t>
            </a:r>
          </a:p>
        </p:txBody>
      </p:sp>
      <p:sp>
        <p:nvSpPr>
          <p:cNvPr id="171" name="Token C"/>
          <p:cNvSpPr/>
          <p:nvPr/>
        </p:nvSpPr>
        <p:spPr>
          <a:xfrm>
            <a:off x="1965960" y="438912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ourier New"/>
              </a:rPr>
              <a:t>C</a:t>
            </a:r>
          </a:p>
        </p:txBody>
      </p:sp>
      <p:sp>
        <p:nvSpPr>
          <p:cNvPr id="172" name="ID C"/>
          <p:cNvSpPr txBox="1"/>
          <p:nvPr/>
        </p:nvSpPr>
        <p:spPr>
          <a:xfrm>
            <a:off x="1965960" y="489204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Verdana"/>
              </a:rPr>
              <a:t>21</a:t>
            </a:r>
          </a:p>
        </p:txBody>
      </p:sp>
      <p:sp>
        <p:nvSpPr>
          <p:cNvPr id="173" name="Token ("/>
          <p:cNvSpPr/>
          <p:nvPr/>
        </p:nvSpPr>
        <p:spPr>
          <a:xfrm>
            <a:off x="2542032" y="438912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ourier New"/>
              </a:rPr>
              <a:t>(</a:t>
            </a:r>
          </a:p>
        </p:txBody>
      </p:sp>
      <p:sp>
        <p:nvSpPr>
          <p:cNvPr id="174" name="ID ("/>
          <p:cNvSpPr txBox="1"/>
          <p:nvPr/>
        </p:nvSpPr>
        <p:spPr>
          <a:xfrm>
            <a:off x="2542032" y="489204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Verdana"/>
              </a:rPr>
              <a:t>5</a:t>
            </a:r>
          </a:p>
        </p:txBody>
      </p:sp>
      <p:sp>
        <p:nvSpPr>
          <p:cNvPr id="175" name="Token ="/>
          <p:cNvSpPr/>
          <p:nvPr/>
        </p:nvSpPr>
        <p:spPr>
          <a:xfrm>
            <a:off x="3118103" y="438912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ourier New"/>
              </a:rPr>
              <a:t>=</a:t>
            </a:r>
          </a:p>
        </p:txBody>
      </p:sp>
      <p:sp>
        <p:nvSpPr>
          <p:cNvPr id="176" name="ID ="/>
          <p:cNvSpPr txBox="1"/>
          <p:nvPr/>
        </p:nvSpPr>
        <p:spPr>
          <a:xfrm>
            <a:off x="3118103" y="489204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Verdana"/>
              </a:rPr>
              <a:t>18</a:t>
            </a:r>
          </a:p>
        </p:txBody>
      </p:sp>
      <p:sp>
        <p:nvSpPr>
          <p:cNvPr id="177" name="Token O"/>
          <p:cNvSpPr/>
          <p:nvPr/>
        </p:nvSpPr>
        <p:spPr>
          <a:xfrm>
            <a:off x="3694176" y="438912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ourier New"/>
              </a:rPr>
              <a:t>O</a:t>
            </a:r>
          </a:p>
        </p:txBody>
      </p:sp>
      <p:sp>
        <p:nvSpPr>
          <p:cNvPr id="178" name="ID O"/>
          <p:cNvSpPr txBox="1"/>
          <p:nvPr/>
        </p:nvSpPr>
        <p:spPr>
          <a:xfrm>
            <a:off x="3694176" y="489204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Verdana"/>
              </a:rPr>
              <a:t>26</a:t>
            </a:r>
          </a:p>
        </p:txBody>
      </p:sp>
      <p:sp>
        <p:nvSpPr>
          <p:cNvPr id="179" name="Token )"/>
          <p:cNvSpPr/>
          <p:nvPr/>
        </p:nvSpPr>
        <p:spPr>
          <a:xfrm>
            <a:off x="4270248" y="438912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ourier New"/>
              </a:rPr>
              <a:t>)</a:t>
            </a:r>
          </a:p>
        </p:txBody>
      </p:sp>
      <p:sp>
        <p:nvSpPr>
          <p:cNvPr id="180" name="ID )"/>
          <p:cNvSpPr txBox="1"/>
          <p:nvPr/>
        </p:nvSpPr>
        <p:spPr>
          <a:xfrm>
            <a:off x="4270248" y="489204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Verdana"/>
              </a:rPr>
              <a:t>6</a:t>
            </a:r>
          </a:p>
        </p:txBody>
      </p:sp>
      <p:sp>
        <p:nvSpPr>
          <p:cNvPr id="181" name="Token N"/>
          <p:cNvSpPr/>
          <p:nvPr/>
        </p:nvSpPr>
        <p:spPr>
          <a:xfrm>
            <a:off x="4846320" y="4389120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ourier New"/>
              </a:rPr>
              <a:t>N</a:t>
            </a:r>
          </a:p>
        </p:txBody>
      </p:sp>
      <p:sp>
        <p:nvSpPr>
          <p:cNvPr id="182" name="ID N"/>
          <p:cNvSpPr txBox="1"/>
          <p:nvPr/>
        </p:nvSpPr>
        <p:spPr>
          <a:xfrm>
            <a:off x="4846320" y="489204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Verdana"/>
              </a:rPr>
              <a:t>25</a:t>
            </a:r>
          </a:p>
        </p:txBody>
      </p:sp>
      <p:sp>
        <p:nvSpPr>
          <p:cNvPr id="183" name="Token &lt;EOS&gt;"/>
          <p:cNvSpPr/>
          <p:nvPr/>
        </p:nvSpPr>
        <p:spPr>
          <a:xfrm>
            <a:off x="5422392" y="438912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ourier New"/>
              </a:rPr>
              <a:t>&lt;EOS&gt;</a:t>
            </a:r>
          </a:p>
        </p:txBody>
      </p:sp>
      <p:sp>
        <p:nvSpPr>
          <p:cNvPr id="184" name="ID &lt;EOS&gt;"/>
          <p:cNvSpPr txBox="1"/>
          <p:nvPr/>
        </p:nvSpPr>
        <p:spPr>
          <a:xfrm>
            <a:off x="5422392" y="489204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Verdana"/>
              </a:rPr>
              <a:t>2</a:t>
            </a:r>
          </a:p>
        </p:txBody>
      </p:sp>
      <p:sp>
        <p:nvSpPr>
          <p:cNvPr id="185" name="Token &lt;PAD&gt;"/>
          <p:cNvSpPr/>
          <p:nvPr/>
        </p:nvSpPr>
        <p:spPr>
          <a:xfrm>
            <a:off x="6364224" y="438912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ourier New"/>
              </a:rPr>
              <a:t>&lt;PAD&gt;</a:t>
            </a:r>
          </a:p>
        </p:txBody>
      </p:sp>
      <p:sp>
        <p:nvSpPr>
          <p:cNvPr id="186" name="ID &lt;PAD&gt;"/>
          <p:cNvSpPr txBox="1"/>
          <p:nvPr/>
        </p:nvSpPr>
        <p:spPr>
          <a:xfrm>
            <a:off x="6364224" y="489204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Verdana"/>
              </a:rPr>
              <a:t>0</a:t>
            </a:r>
          </a:p>
        </p:txBody>
      </p:sp>
      <p:sp>
        <p:nvSpPr>
          <p:cNvPr id="187" name="Token &lt;PAD&gt;"/>
          <p:cNvSpPr/>
          <p:nvPr/>
        </p:nvSpPr>
        <p:spPr>
          <a:xfrm>
            <a:off x="7306056" y="438912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ourier New"/>
              </a:rPr>
              <a:t>&lt;PAD&gt;</a:t>
            </a:r>
          </a:p>
        </p:txBody>
      </p:sp>
      <p:sp>
        <p:nvSpPr>
          <p:cNvPr id="188" name="ID &lt;PAD&gt;"/>
          <p:cNvSpPr txBox="1"/>
          <p:nvPr/>
        </p:nvSpPr>
        <p:spPr>
          <a:xfrm>
            <a:off x="7306056" y="489204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Verdana"/>
              </a:rPr>
              <a:t>0</a:t>
            </a:r>
          </a:p>
        </p:txBody>
      </p:sp>
      <p:sp>
        <p:nvSpPr>
          <p:cNvPr id="189" name="Ellipsis"/>
          <p:cNvSpPr txBox="1"/>
          <p:nvPr/>
        </p:nvSpPr>
        <p:spPr>
          <a:xfrm>
            <a:off x="8293608" y="4389120"/>
            <a:ext cx="3456432" cy="457200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Verdana"/>
              </a:rPr>
              <a:t>…</a:t>
            </a:r>
          </a:p>
        </p:txBody>
      </p:sp>
      <p:sp>
        <p:nvSpPr>
          <p:cNvPr id="190" name="Rationale"/>
          <p:cNvSpPr txBox="1"/>
          <p:nvPr/>
        </p:nvSpPr>
        <p:spPr>
          <a:xfrm>
            <a:off x="448056" y="5349240"/>
            <a:ext cx="11301984" cy="73152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Why character-level? 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Atoms, ring digits and bond symbols stay single units, with no large subword (BPE) vocabulary. Numbers below each token are its vocabulary 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4" name="Google Shape;134;p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8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3"/>
          <p:cNvSpPr txBox="1"/>
          <p:nvPr/>
        </p:nvSpPr>
        <p:spPr>
          <a:xfrm>
            <a:off x="450774" y="900322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Methodology: VAE Mathematics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38600" y="20906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Discovery Using VAEs</a:t>
            </a:r>
            <a:endParaRPr/>
          </a:p>
        </p:txBody>
      </p:sp>
      <p:sp>
        <p:nvSpPr>
          <p:cNvPr id="147" name="Formula card 1"/>
          <p:cNvSpPr/>
          <p:nvPr/>
        </p:nvSpPr>
        <p:spPr>
          <a:xfrm>
            <a:off x="448056" y="1481328"/>
            <a:ext cx="6858000" cy="137160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Formula label 1"/>
          <p:cNvSpPr txBox="1"/>
          <p:nvPr/>
        </p:nvSpPr>
        <p:spPr>
          <a:xfrm>
            <a:off x="548640" y="1527048"/>
            <a:ext cx="6675120" cy="32004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1" i="0">
                <a:solidFill>
                  <a:srgbClr val="006E96"/>
                </a:solidFill>
                <a:latin typeface="Verdana"/>
              </a:rPr>
              <a:t>Evidence Lower Bound (ELBO)</a:t>
            </a:r>
          </a:p>
        </p:txBody>
      </p:sp>
      <p:sp>
        <p:nvSpPr>
          <p:cNvPr id="149" name="Formula 1"/>
          <p:cNvSpPr txBox="1"/>
          <p:nvPr/>
        </p:nvSpPr>
        <p:spPr>
          <a:xfrm>
            <a:off x="548640" y="1828800"/>
            <a:ext cx="6675120" cy="502920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ambria Math"/>
              </a:rPr>
              <a:t>ℒ = E[ log p(x|z) ] − D</a:t>
            </a:r>
            <a:r>
              <a:rPr sz="2200" b="0" i="0" baseline="-25000">
                <a:solidFill>
                  <a:srgbClr val="1A1A1A"/>
                </a:solidFill>
                <a:latin typeface="Cambria Math"/>
              </a:rPr>
              <a:t>KL</a:t>
            </a:r>
            <a:r>
              <a:rPr sz="2200" b="0" i="0">
                <a:solidFill>
                  <a:srgbClr val="1A1A1A"/>
                </a:solidFill>
                <a:latin typeface="Cambria Math"/>
              </a:rPr>
              <a:t> ( q(z|x) ‖ p(z) )</a:t>
            </a:r>
          </a:p>
        </p:txBody>
      </p:sp>
      <p:sp>
        <p:nvSpPr>
          <p:cNvPr id="150" name="Formula meaning 1"/>
          <p:cNvSpPr txBox="1"/>
          <p:nvPr/>
        </p:nvSpPr>
        <p:spPr>
          <a:xfrm>
            <a:off x="548640" y="2350008"/>
            <a:ext cx="6675120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Reconstruction term plus KL regulariser, maximised during training.</a:t>
            </a:r>
          </a:p>
        </p:txBody>
      </p:sp>
      <p:sp>
        <p:nvSpPr>
          <p:cNvPr id="151" name="Formula card 2"/>
          <p:cNvSpPr/>
          <p:nvPr/>
        </p:nvSpPr>
        <p:spPr>
          <a:xfrm>
            <a:off x="448056" y="2990088"/>
            <a:ext cx="6858000" cy="137160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Formula label 2"/>
          <p:cNvSpPr txBox="1"/>
          <p:nvPr/>
        </p:nvSpPr>
        <p:spPr>
          <a:xfrm>
            <a:off x="548640" y="3035808"/>
            <a:ext cx="6675120" cy="32004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1" i="0">
                <a:solidFill>
                  <a:srgbClr val="006E96"/>
                </a:solidFill>
                <a:latin typeface="Verdana"/>
              </a:rPr>
              <a:t>Closed-form KL for Gaussians</a:t>
            </a:r>
          </a:p>
        </p:txBody>
      </p:sp>
      <p:sp>
        <p:nvSpPr>
          <p:cNvPr id="153" name="Formula 2"/>
          <p:cNvSpPr txBox="1"/>
          <p:nvPr/>
        </p:nvSpPr>
        <p:spPr>
          <a:xfrm>
            <a:off x="548640" y="3337560"/>
            <a:ext cx="6675120" cy="502920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ambria Math"/>
              </a:rPr>
              <a:t>D</a:t>
            </a:r>
            <a:r>
              <a:rPr sz="2200" b="0" i="0" baseline="-25000">
                <a:solidFill>
                  <a:srgbClr val="1A1A1A"/>
                </a:solidFill>
                <a:latin typeface="Cambria Math"/>
              </a:rPr>
              <a:t>KL</a:t>
            </a:r>
            <a:r>
              <a:rPr sz="2200" b="0" i="0">
                <a:solidFill>
                  <a:srgbClr val="1A1A1A"/>
                </a:solidFill>
                <a:latin typeface="Cambria Math"/>
              </a:rPr>
              <a:t> = −½ Σ ( 1 + log σ² − μ² − σ² )</a:t>
            </a:r>
          </a:p>
        </p:txBody>
      </p:sp>
      <p:sp>
        <p:nvSpPr>
          <p:cNvPr id="154" name="Formula meaning 2"/>
          <p:cNvSpPr txBox="1"/>
          <p:nvPr/>
        </p:nvSpPr>
        <p:spPr>
          <a:xfrm>
            <a:off x="548640" y="3858768"/>
            <a:ext cx="6675120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No Monte Carlo estimate needed; a single line in PyTorch.</a:t>
            </a:r>
          </a:p>
        </p:txBody>
      </p:sp>
      <p:sp>
        <p:nvSpPr>
          <p:cNvPr id="155" name="Formula card 3"/>
          <p:cNvSpPr/>
          <p:nvPr/>
        </p:nvSpPr>
        <p:spPr>
          <a:xfrm>
            <a:off x="448056" y="4498848"/>
            <a:ext cx="6858000" cy="137160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Formula label 3"/>
          <p:cNvSpPr txBox="1"/>
          <p:nvPr/>
        </p:nvSpPr>
        <p:spPr>
          <a:xfrm>
            <a:off x="548640" y="4544568"/>
            <a:ext cx="6675120" cy="32004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1" i="0">
                <a:solidFill>
                  <a:srgbClr val="006E96"/>
                </a:solidFill>
                <a:latin typeface="Verdana"/>
              </a:rPr>
              <a:t>Reparameterization trick</a:t>
            </a:r>
          </a:p>
        </p:txBody>
      </p:sp>
      <p:sp>
        <p:nvSpPr>
          <p:cNvPr id="157" name="Formula 3"/>
          <p:cNvSpPr txBox="1"/>
          <p:nvPr/>
        </p:nvSpPr>
        <p:spPr>
          <a:xfrm>
            <a:off x="548640" y="4846320"/>
            <a:ext cx="6675120" cy="502920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ambria Math"/>
              </a:rPr>
              <a:t>z = μ + σ ⊙ ε ,    ε ~ N(0, I)</a:t>
            </a:r>
          </a:p>
        </p:txBody>
      </p:sp>
      <p:sp>
        <p:nvSpPr>
          <p:cNvPr id="158" name="Formula meaning 3"/>
          <p:cNvSpPr txBox="1"/>
          <p:nvPr/>
        </p:nvSpPr>
        <p:spPr>
          <a:xfrm>
            <a:off x="548640" y="5367528"/>
            <a:ext cx="6675120" cy="4572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Randomness moves outside the network so gradients reach μ and σ.</a:t>
            </a:r>
          </a:p>
        </p:txBody>
      </p:sp>
      <p:sp>
        <p:nvSpPr>
          <p:cNvPr id="159" name="Total loss card"/>
          <p:cNvSpPr/>
          <p:nvPr/>
        </p:nvSpPr>
        <p:spPr>
          <a:xfrm>
            <a:off x="7498079" y="1481328"/>
            <a:ext cx="4251960" cy="1417320"/>
          </a:xfrm>
          <a:prstGeom prst="roundRect">
            <a:avLst>
              <a:gd name="adj" fmla="val 7000"/>
            </a:avLst>
          </a:prstGeom>
          <a:solidFill>
            <a:srgbClr val="FF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otal loss label"/>
          <p:cNvSpPr txBox="1"/>
          <p:nvPr/>
        </p:nvSpPr>
        <p:spPr>
          <a:xfrm>
            <a:off x="7589520" y="1536192"/>
            <a:ext cx="4069080" cy="32004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1" i="0">
                <a:solidFill>
                  <a:srgbClr val="006E96"/>
                </a:solidFill>
                <a:latin typeface="Verdana"/>
              </a:rPr>
              <a:t>Total loss</a:t>
            </a:r>
          </a:p>
        </p:txBody>
      </p:sp>
      <p:sp>
        <p:nvSpPr>
          <p:cNvPr id="161" name="Total loss formula"/>
          <p:cNvSpPr txBox="1"/>
          <p:nvPr/>
        </p:nvSpPr>
        <p:spPr>
          <a:xfrm>
            <a:off x="7589520" y="1874519"/>
            <a:ext cx="4069080" cy="502920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ambria Math"/>
              </a:rPr>
              <a:t>ℒ</a:t>
            </a:r>
            <a:r>
              <a:rPr sz="2000" b="0" i="0" baseline="-25000">
                <a:solidFill>
                  <a:srgbClr val="1A1A1A"/>
                </a:solidFill>
                <a:latin typeface="Cambria Math"/>
              </a:rPr>
              <a:t>total</a:t>
            </a:r>
            <a:r>
              <a:rPr sz="2000" b="0" i="0">
                <a:solidFill>
                  <a:srgbClr val="1A1A1A"/>
                </a:solidFill>
                <a:latin typeface="Cambria Math"/>
              </a:rPr>
              <a:t> = ℒ</a:t>
            </a:r>
            <a:r>
              <a:rPr sz="2000" b="0" i="0" baseline="-25000">
                <a:solidFill>
                  <a:srgbClr val="1A1A1A"/>
                </a:solidFill>
                <a:latin typeface="Cambria Math"/>
              </a:rPr>
              <a:t>recon</a:t>
            </a:r>
            <a:r>
              <a:rPr sz="2000" b="0" i="0">
                <a:solidFill>
                  <a:srgbClr val="1A1A1A"/>
                </a:solidFill>
                <a:latin typeface="Cambria Math"/>
              </a:rPr>
              <a:t> + β · D</a:t>
            </a:r>
            <a:r>
              <a:rPr sz="2000" b="0" i="0" baseline="-25000">
                <a:solidFill>
                  <a:srgbClr val="1A1A1A"/>
                </a:solidFill>
                <a:latin typeface="Cambria Math"/>
              </a:rPr>
              <a:t>KL</a:t>
            </a:r>
          </a:p>
        </p:txBody>
      </p:sp>
      <p:sp>
        <p:nvSpPr>
          <p:cNvPr id="162" name="Total loss note"/>
          <p:cNvSpPr txBox="1"/>
          <p:nvPr/>
        </p:nvSpPr>
        <p:spPr>
          <a:xfrm>
            <a:off x="7589520" y="2423160"/>
            <a:ext cx="406908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Cross-entropy reconstruction, β = 0.05</a:t>
            </a:r>
          </a:p>
        </p:txBody>
      </p:sp>
      <p:sp>
        <p:nvSpPr>
          <p:cNvPr id="163" name="Why beta card"/>
          <p:cNvSpPr/>
          <p:nvPr/>
        </p:nvSpPr>
        <p:spPr>
          <a:xfrm>
            <a:off x="7498079" y="3081528"/>
            <a:ext cx="4251960" cy="196596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Why beta label"/>
          <p:cNvSpPr txBox="1"/>
          <p:nvPr/>
        </p:nvSpPr>
        <p:spPr>
          <a:xfrm>
            <a:off x="7589520" y="3136392"/>
            <a:ext cx="4069080" cy="32004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1" i="0">
                <a:solidFill>
                  <a:srgbClr val="006E96"/>
                </a:solidFill>
                <a:latin typeface="Verdana"/>
              </a:rPr>
              <a:t>Why β = 0.05?</a:t>
            </a:r>
          </a:p>
        </p:txBody>
      </p:sp>
      <p:sp>
        <p:nvSpPr>
          <p:cNvPr id="165" name="Why beta bullets"/>
          <p:cNvSpPr txBox="1"/>
          <p:nvPr/>
        </p:nvSpPr>
        <p:spPr>
          <a:xfrm>
            <a:off x="7589520" y="3474720"/>
            <a:ext cx="4069080" cy="173736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marL="274320" indent="-27432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Verdana"/>
              </a:rPr>
              <a:t>Too high: posterior collapse, the latent code is ignored</a:t>
            </a:r>
          </a:p>
          <a:p>
            <a:pPr marL="274320" indent="-274320" algn="l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Verdana"/>
              </a:rPr>
              <a:t>Too low: disjointed latent space, poor interpolation</a:t>
            </a:r>
          </a:p>
          <a:p>
            <a:pPr marL="274320" indent="-274320" algn="l"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Verdana"/>
              </a:rPr>
              <a:t>0.05 learns SMILES grammar first, then smooths the manifold</a:t>
            </a:r>
          </a:p>
        </p:txBody>
      </p:sp>
      <p:sp>
        <p:nvSpPr>
          <p:cNvPr id="166" name="AE vs VAE card"/>
          <p:cNvSpPr/>
          <p:nvPr/>
        </p:nvSpPr>
        <p:spPr>
          <a:xfrm>
            <a:off x="7498079" y="5230368"/>
            <a:ext cx="4251960" cy="64008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Plain AE: 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dead zones.  </a:t>
            </a:r>
            <a:r>
              <a:rPr sz="1400" b="1" i="0">
                <a:solidFill>
                  <a:srgbClr val="1A1A1A"/>
                </a:solidFill>
                <a:latin typeface="Verdana"/>
              </a:rPr>
              <a:t>VAE: 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continuous, sampleable 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4" name="Google Shape;134;p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9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3"/>
          <p:cNvSpPr txBox="1"/>
          <p:nvPr/>
        </p:nvSpPr>
        <p:spPr>
          <a:xfrm>
            <a:off x="450774" y="900322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Methodology: Model Architecture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38600" y="20906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Discovery Using VAEs</a:t>
            </a:r>
            <a:endParaRPr/>
          </a:p>
        </p:txBody>
      </p:sp>
      <p:sp>
        <p:nvSpPr>
          <p:cNvPr id="147" name="Encoder label"/>
          <p:cNvSpPr/>
          <p:nvPr/>
        </p:nvSpPr>
        <p:spPr>
          <a:xfrm>
            <a:off x="448056" y="1554480"/>
            <a:ext cx="1188720" cy="914400"/>
          </a:xfrm>
          <a:prstGeom prst="roundRect">
            <a:avLst>
              <a:gd name="adj" fmla="val 7000"/>
            </a:avLst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Verdana"/>
              </a:rPr>
              <a:t>ENCODER</a:t>
            </a:r>
          </a:p>
        </p:txBody>
      </p:sp>
      <p:sp>
        <p:nvSpPr>
          <p:cNvPr id="148" name="Decoder label"/>
          <p:cNvSpPr/>
          <p:nvPr/>
        </p:nvSpPr>
        <p:spPr>
          <a:xfrm>
            <a:off x="448056" y="4754880"/>
            <a:ext cx="1188720" cy="914400"/>
          </a:xfrm>
          <a:prstGeom prst="roundRect">
            <a:avLst>
              <a:gd name="adj" fmla="val 7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Verdana"/>
              </a:rPr>
              <a:t>DECODER</a:t>
            </a:r>
          </a:p>
        </p:txBody>
      </p:sp>
      <p:sp>
        <p:nvSpPr>
          <p:cNvPr id="149" name="Input tokens block"/>
          <p:cNvSpPr/>
          <p:nvPr/>
        </p:nvSpPr>
        <p:spPr>
          <a:xfrm>
            <a:off x="1773936" y="155448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400" b="1" i="0">
                <a:solidFill>
                  <a:srgbClr val="006E96"/>
                </a:solidFill>
                <a:latin typeface="Verdana"/>
              </a:rPr>
              <a:t>Input tokens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(B, 122) integer IDs</a:t>
            </a:r>
          </a:p>
        </p:txBody>
      </p:sp>
      <p:cxnSp>
        <p:nvCxnSpPr>
          <p:cNvPr id="150" name="Flow arrow 0-0"/>
          <p:cNvCxnSpPr/>
          <p:nvPr/>
        </p:nvCxnSpPr>
        <p:spPr>
          <a:xfrm>
            <a:off x="3950208" y="2011680"/>
            <a:ext cx="310896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Embedding block"/>
          <p:cNvSpPr/>
          <p:nvPr/>
        </p:nvSpPr>
        <p:spPr>
          <a:xfrm>
            <a:off x="4288536" y="155448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400" b="1" i="0">
                <a:solidFill>
                  <a:srgbClr val="006E96"/>
                </a:solidFill>
                <a:latin typeface="Verdana"/>
              </a:rPr>
              <a:t>Embedding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vocab 38 → dim 128</a:t>
            </a:r>
          </a:p>
        </p:txBody>
      </p:sp>
      <p:cxnSp>
        <p:nvCxnSpPr>
          <p:cNvPr id="152" name="Flow arrow 0-1"/>
          <p:cNvCxnSpPr/>
          <p:nvPr/>
        </p:nvCxnSpPr>
        <p:spPr>
          <a:xfrm>
            <a:off x="6464807" y="2011680"/>
            <a:ext cx="310896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GRU encoder block"/>
          <p:cNvSpPr/>
          <p:nvPr/>
        </p:nvSpPr>
        <p:spPr>
          <a:xfrm>
            <a:off x="6803136" y="155448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400" b="1" i="0">
                <a:solidFill>
                  <a:srgbClr val="006E96"/>
                </a:solidFill>
                <a:latin typeface="Verdana"/>
              </a:rPr>
              <a:t>GRU encoder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hidden size 256</a:t>
            </a:r>
          </a:p>
        </p:txBody>
      </p:sp>
      <p:cxnSp>
        <p:nvCxnSpPr>
          <p:cNvPr id="154" name="Flow arrow 0-2"/>
          <p:cNvCxnSpPr/>
          <p:nvPr/>
        </p:nvCxnSpPr>
        <p:spPr>
          <a:xfrm>
            <a:off x="8979407" y="2011680"/>
            <a:ext cx="310897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fc_mu · fc_var block"/>
          <p:cNvSpPr/>
          <p:nvPr/>
        </p:nvSpPr>
        <p:spPr>
          <a:xfrm>
            <a:off x="9317736" y="155448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400" b="1" i="0">
                <a:solidFill>
                  <a:srgbClr val="006E96"/>
                </a:solidFill>
                <a:latin typeface="Verdana"/>
              </a:rPr>
              <a:t>fc_mu · fc_var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256 → 64 each</a:t>
            </a:r>
          </a:p>
        </p:txBody>
      </p:sp>
      <p:sp>
        <p:nvSpPr>
          <p:cNvPr id="156" name="fc_z_to_hidden block"/>
          <p:cNvSpPr/>
          <p:nvPr/>
        </p:nvSpPr>
        <p:spPr>
          <a:xfrm>
            <a:off x="1773936" y="475488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400" b="1" i="0">
                <a:solidFill>
                  <a:srgbClr val="006E96"/>
                </a:solidFill>
                <a:latin typeface="Verdana"/>
              </a:rPr>
              <a:t>fc_z_to_hidden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64 → 256, sets h₀</a:t>
            </a:r>
          </a:p>
        </p:txBody>
      </p:sp>
      <p:cxnSp>
        <p:nvCxnSpPr>
          <p:cNvPr id="157" name="Flow arrow 1-0"/>
          <p:cNvCxnSpPr/>
          <p:nvPr/>
        </p:nvCxnSpPr>
        <p:spPr>
          <a:xfrm>
            <a:off x="3950208" y="5212080"/>
            <a:ext cx="310896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Embedding + GRU block"/>
          <p:cNvSpPr/>
          <p:nvPr/>
        </p:nvSpPr>
        <p:spPr>
          <a:xfrm>
            <a:off x="4288536" y="475488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400" b="1" i="0">
                <a:solidFill>
                  <a:srgbClr val="006E96"/>
                </a:solidFill>
                <a:latin typeface="Verdana"/>
              </a:rPr>
              <a:t>Embedding + GRU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decoder, hidden 256</a:t>
            </a:r>
          </a:p>
        </p:txBody>
      </p:sp>
      <p:cxnSp>
        <p:nvCxnSpPr>
          <p:cNvPr id="159" name="Flow arrow 1-1"/>
          <p:cNvCxnSpPr/>
          <p:nvPr/>
        </p:nvCxnSpPr>
        <p:spPr>
          <a:xfrm>
            <a:off x="6464807" y="5212080"/>
            <a:ext cx="310896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fc_out block"/>
          <p:cNvSpPr/>
          <p:nvPr/>
        </p:nvSpPr>
        <p:spPr>
          <a:xfrm>
            <a:off x="6803136" y="475488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400" b="1" i="0">
                <a:solidFill>
                  <a:srgbClr val="006E96"/>
                </a:solidFill>
                <a:latin typeface="Verdana"/>
              </a:rPr>
              <a:t>fc_out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256 → 38 logits</a:t>
            </a:r>
          </a:p>
        </p:txBody>
      </p:sp>
      <p:cxnSp>
        <p:nvCxnSpPr>
          <p:cNvPr id="161" name="Flow arrow 1-2"/>
          <p:cNvCxnSpPr/>
          <p:nvPr/>
        </p:nvCxnSpPr>
        <p:spPr>
          <a:xfrm>
            <a:off x="8979407" y="5212080"/>
            <a:ext cx="310897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Output SMILES block"/>
          <p:cNvSpPr/>
          <p:nvPr/>
        </p:nvSpPr>
        <p:spPr>
          <a:xfrm>
            <a:off x="9317736" y="475488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400" b="1" i="0">
                <a:solidFill>
                  <a:srgbClr val="006E96"/>
                </a:solidFill>
                <a:latin typeface="Verdana"/>
              </a:rPr>
              <a:t>Output SMILES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Verdana"/>
              </a:rPr>
              <a:t>token by token</a:t>
            </a:r>
          </a:p>
        </p:txBody>
      </p:sp>
      <p:sp>
        <p:nvSpPr>
          <p:cNvPr id="163" name="Latent z block"/>
          <p:cNvSpPr/>
          <p:nvPr/>
        </p:nvSpPr>
        <p:spPr>
          <a:xfrm>
            <a:off x="4251960" y="3154680"/>
            <a:ext cx="3931920" cy="914400"/>
          </a:xfrm>
          <a:prstGeom prst="roundRect">
            <a:avLst>
              <a:gd name="adj" fmla="val 7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Verdana"/>
              </a:rPr>
              <a:t>Latent z (64-D)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Cambria Math"/>
              </a:rPr>
              <a:t>z = μ + σ ⊙ ε ,  ε ~ N(0, I)</a:t>
            </a:r>
          </a:p>
        </p:txBody>
      </p:sp>
      <p:cxnSp>
        <p:nvCxnSpPr>
          <p:cNvPr id="164" name="Encoder to latent (down)"/>
          <p:cNvCxnSpPr/>
          <p:nvPr/>
        </p:nvCxnSpPr>
        <p:spPr>
          <a:xfrm>
            <a:off x="10392156" y="2468880"/>
            <a:ext cx="0" cy="1143000"/>
          </a:xfrm>
          <a:prstGeom prst="line">
            <a:avLst/>
          </a:prstGeom>
          <a:ln w="2857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Encoder to latent (in)"/>
          <p:cNvCxnSpPr/>
          <p:nvPr/>
        </p:nvCxnSpPr>
        <p:spPr>
          <a:xfrm flipH="1">
            <a:off x="8211311" y="3611880"/>
            <a:ext cx="2180845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Latent to decoder (out)"/>
          <p:cNvCxnSpPr/>
          <p:nvPr/>
        </p:nvCxnSpPr>
        <p:spPr>
          <a:xfrm flipH="1">
            <a:off x="2848356" y="3611880"/>
            <a:ext cx="1376172" cy="0"/>
          </a:xfrm>
          <a:prstGeom prst="line">
            <a:avLst/>
          </a:prstGeom>
          <a:ln w="2857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Latent to decoder (down)"/>
          <p:cNvCxnSpPr/>
          <p:nvPr/>
        </p:nvCxnSpPr>
        <p:spPr>
          <a:xfrm>
            <a:off x="2848356" y="3611880"/>
            <a:ext cx="0" cy="1115568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4" name="Google Shape;134;p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10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3"/>
          <p:cNvSpPr txBox="1"/>
          <p:nvPr/>
        </p:nvSpPr>
        <p:spPr>
          <a:xfrm>
            <a:off x="450774" y="900322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Methodology: Training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38600" y="20906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Discovery Using VAEs</a:t>
            </a:r>
            <a:endParaRPr/>
          </a:p>
        </p:txBody>
      </p:sp>
      <p:graphicFrame>
        <p:nvGraphicFramePr>
          <p:cNvPr id="147" name="Training settings table"/>
          <p:cNvGraphicFramePr>
            <a:graphicFrameLocks noGrp="1"/>
          </p:cNvGraphicFramePr>
          <p:nvPr/>
        </p:nvGraphicFramePr>
        <p:xfrm>
          <a:off x="448056" y="1481328"/>
          <a:ext cx="5486400" cy="3712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Setting</a:t>
                      </a:r>
                    </a:p>
                  </a:txBody>
                  <a:tcPr marL="109728" marR="109728" marT="36576" marB="36576" anchor="ctr"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Value</a:t>
                      </a:r>
                    </a:p>
                  </a:txBody>
                  <a:tcPr marL="109728" marR="109728" marT="36576" marB="36576" anchor="ctr">
                    <a:solidFill>
                      <a:srgbClr val="3AF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Optimizer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Adam, lr = 0.001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Batch size</a:t>
                      </a:r>
                    </a:p>
                  </a:txBody>
                  <a:tcPr marL="109728" marR="109728" marT="36576" marB="36576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128 (1,754 per epoch)</a:t>
                      </a:r>
                    </a:p>
                  </a:txBody>
                  <a:tcPr marL="109728" marR="109728" marT="36576" marB="36576" anchor="ctr">
                    <a:solidFill>
                      <a:srgbClr val="F2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Loss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Cross-entropy + 0.05 · KL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Grad. clipping</a:t>
                      </a:r>
                    </a:p>
                  </a:txBody>
                  <a:tcPr marL="109728" marR="109728" marT="36576" marB="36576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max-norm 5</a:t>
                      </a:r>
                    </a:p>
                  </a:txBody>
                  <a:tcPr marL="109728" marR="109728" marT="36576" marB="36576" anchor="ctr">
                    <a:solidFill>
                      <a:srgbClr val="F2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Checkpoints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every epoch, auto-resume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Final weights</a:t>
                      </a:r>
                    </a:p>
                  </a:txBody>
                  <a:tcPr marL="109728" marR="109728" marT="36576" marB="36576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vae_final.pt (2.63 MB)</a:t>
                      </a:r>
                    </a:p>
                  </a:txBody>
                  <a:tcPr marL="109728" marR="109728" marT="36576" marB="36576" anchor="ctr">
                    <a:solidFill>
                      <a:srgbClr val="F2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8" name="Teacher forcing card"/>
          <p:cNvSpPr/>
          <p:nvPr/>
        </p:nvSpPr>
        <p:spPr>
          <a:xfrm>
            <a:off x="448056" y="5257800"/>
            <a:ext cx="5486400" cy="77724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Teacher forcing: 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the decoder reads the shifted sequence and predicts every next token.</a:t>
            </a:r>
          </a:p>
        </p:txBody>
      </p:sp>
      <p:sp>
        <p:nvSpPr>
          <p:cNvPr id="149" name="Loss curve card"/>
          <p:cNvSpPr/>
          <p:nvPr/>
        </p:nvSpPr>
        <p:spPr>
          <a:xfrm>
            <a:off x="6172200" y="1481328"/>
            <a:ext cx="557784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C8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0" name="Training loss curve" descr="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554480"/>
            <a:ext cx="5394960" cy="3371850"/>
          </a:xfrm>
          <a:prstGeom prst="rect">
            <a:avLst/>
          </a:prstGeom>
        </p:spPr>
      </p:pic>
      <p:sp>
        <p:nvSpPr>
          <p:cNvPr id="151" name="Loss caption"/>
          <p:cNvSpPr txBox="1"/>
          <p:nvPr/>
        </p:nvSpPr>
        <p:spPr>
          <a:xfrm>
            <a:off x="6172200" y="5120640"/>
            <a:ext cx="5577840" cy="91440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Total loss falls from about 1.43 (epoch 1) to 0.31 (epoch 10), converging smoothly.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4" name="Google Shape;134;p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11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3"/>
          <p:cNvSpPr txBox="1"/>
          <p:nvPr/>
        </p:nvSpPr>
        <p:spPr>
          <a:xfrm>
            <a:off x="450774" y="900322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Methodology: Generation Pipeline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38600" y="20906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Discovery Using VAEs</a:t>
            </a:r>
            <a:endParaRPr/>
          </a:p>
        </p:txBody>
      </p:sp>
      <p:sp>
        <p:nvSpPr>
          <p:cNvPr id="147" name="Step 1 card"/>
          <p:cNvSpPr/>
          <p:nvPr/>
        </p:nvSpPr>
        <p:spPr>
          <a:xfrm>
            <a:off x="448056" y="1481328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Step 1 badge"/>
          <p:cNvSpPr/>
          <p:nvPr/>
        </p:nvSpPr>
        <p:spPr>
          <a:xfrm>
            <a:off x="630936" y="1645920"/>
            <a:ext cx="457200" cy="457200"/>
          </a:xfrm>
          <a:prstGeom prst="ellipse">
            <a:avLst/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Verdana"/>
              </a:rPr>
              <a:t>1</a:t>
            </a:r>
          </a:p>
        </p:txBody>
      </p:sp>
      <p:sp>
        <p:nvSpPr>
          <p:cNvPr id="149" name="Step 1 title"/>
          <p:cNvSpPr txBox="1"/>
          <p:nvPr/>
        </p:nvSpPr>
        <p:spPr>
          <a:xfrm>
            <a:off x="539496" y="2212848"/>
            <a:ext cx="242316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Sample prior</a:t>
            </a:r>
          </a:p>
        </p:txBody>
      </p:sp>
      <p:sp>
        <p:nvSpPr>
          <p:cNvPr id="150" name="Step 1 detail"/>
          <p:cNvSpPr txBox="1"/>
          <p:nvPr/>
        </p:nvSpPr>
        <p:spPr>
          <a:xfrm>
            <a:off x="539496" y="2578608"/>
            <a:ext cx="2423160" cy="960119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100,000 random vectors z ~ N(0, I), each 64-D</a:t>
            </a:r>
          </a:p>
        </p:txBody>
      </p:sp>
      <p:cxnSp>
        <p:nvCxnSpPr>
          <p:cNvPr id="151" name="Gen arrow 1"/>
          <p:cNvCxnSpPr/>
          <p:nvPr/>
        </p:nvCxnSpPr>
        <p:spPr>
          <a:xfrm>
            <a:off x="3081527" y="2532888"/>
            <a:ext cx="237745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Step 2 card"/>
          <p:cNvSpPr/>
          <p:nvPr/>
        </p:nvSpPr>
        <p:spPr>
          <a:xfrm>
            <a:off x="3346704" y="1481328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Step 2 badge"/>
          <p:cNvSpPr/>
          <p:nvPr/>
        </p:nvSpPr>
        <p:spPr>
          <a:xfrm>
            <a:off x="3529584" y="1645920"/>
            <a:ext cx="457200" cy="457200"/>
          </a:xfrm>
          <a:prstGeom prst="ellipse">
            <a:avLst/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Verdana"/>
              </a:rPr>
              <a:t>2</a:t>
            </a:r>
          </a:p>
        </p:txBody>
      </p:sp>
      <p:sp>
        <p:nvSpPr>
          <p:cNvPr id="154" name="Step 2 title"/>
          <p:cNvSpPr txBox="1"/>
          <p:nvPr/>
        </p:nvSpPr>
        <p:spPr>
          <a:xfrm>
            <a:off x="3438144" y="2212848"/>
            <a:ext cx="242316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Decode</a:t>
            </a:r>
          </a:p>
        </p:txBody>
      </p:sp>
      <p:sp>
        <p:nvSpPr>
          <p:cNvPr id="155" name="Step 2 detail"/>
          <p:cNvSpPr txBox="1"/>
          <p:nvPr/>
        </p:nvSpPr>
        <p:spPr>
          <a:xfrm>
            <a:off x="3438144" y="2578608"/>
            <a:ext cx="2423160" cy="960119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GRU starts at &lt;SOS&gt;, samples tokens at T = 1.0 until &lt;EOS&gt;</a:t>
            </a:r>
          </a:p>
        </p:txBody>
      </p:sp>
      <p:cxnSp>
        <p:nvCxnSpPr>
          <p:cNvPr id="156" name="Gen arrow 2"/>
          <p:cNvCxnSpPr/>
          <p:nvPr/>
        </p:nvCxnSpPr>
        <p:spPr>
          <a:xfrm>
            <a:off x="5980176" y="2532888"/>
            <a:ext cx="237744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Step 3 card"/>
          <p:cNvSpPr/>
          <p:nvPr/>
        </p:nvSpPr>
        <p:spPr>
          <a:xfrm>
            <a:off x="6245352" y="1481328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Step 3 badge"/>
          <p:cNvSpPr/>
          <p:nvPr/>
        </p:nvSpPr>
        <p:spPr>
          <a:xfrm>
            <a:off x="6428232" y="1645920"/>
            <a:ext cx="457200" cy="457200"/>
          </a:xfrm>
          <a:prstGeom prst="ellipse">
            <a:avLst/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Verdana"/>
              </a:rPr>
              <a:t>3</a:t>
            </a:r>
          </a:p>
        </p:txBody>
      </p:sp>
      <p:sp>
        <p:nvSpPr>
          <p:cNvPr id="159" name="Step 3 title"/>
          <p:cNvSpPr txBox="1"/>
          <p:nvPr/>
        </p:nvSpPr>
        <p:spPr>
          <a:xfrm>
            <a:off x="6336792" y="2212848"/>
            <a:ext cx="242316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Validate</a:t>
            </a:r>
          </a:p>
        </p:txBody>
      </p:sp>
      <p:sp>
        <p:nvSpPr>
          <p:cNvPr id="160" name="Step 3 detail"/>
          <p:cNvSpPr txBox="1"/>
          <p:nvPr/>
        </p:nvSpPr>
        <p:spPr>
          <a:xfrm>
            <a:off x="6336792" y="2578608"/>
            <a:ext cx="2423160" cy="960119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RDKit rejects bad syntax, valences and ring closures</a:t>
            </a:r>
          </a:p>
        </p:txBody>
      </p:sp>
      <p:cxnSp>
        <p:nvCxnSpPr>
          <p:cNvPr id="161" name="Gen arrow 3"/>
          <p:cNvCxnSpPr/>
          <p:nvPr/>
        </p:nvCxnSpPr>
        <p:spPr>
          <a:xfrm>
            <a:off x="8878824" y="2532888"/>
            <a:ext cx="237744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Step 4 card"/>
          <p:cNvSpPr/>
          <p:nvPr/>
        </p:nvSpPr>
        <p:spPr>
          <a:xfrm>
            <a:off x="9144000" y="1481328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Step 4 badge"/>
          <p:cNvSpPr/>
          <p:nvPr/>
        </p:nvSpPr>
        <p:spPr>
          <a:xfrm>
            <a:off x="9326880" y="1645920"/>
            <a:ext cx="457200" cy="457200"/>
          </a:xfrm>
          <a:prstGeom prst="ellipse">
            <a:avLst/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Verdana"/>
              </a:rPr>
              <a:t>4</a:t>
            </a:r>
          </a:p>
        </p:txBody>
      </p:sp>
      <p:sp>
        <p:nvSpPr>
          <p:cNvPr id="164" name="Step 4 title"/>
          <p:cNvSpPr txBox="1"/>
          <p:nvPr/>
        </p:nvSpPr>
        <p:spPr>
          <a:xfrm>
            <a:off x="9235440" y="2212848"/>
            <a:ext cx="242316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Filter, export</a:t>
            </a:r>
          </a:p>
        </p:txBody>
      </p:sp>
      <p:sp>
        <p:nvSpPr>
          <p:cNvPr id="165" name="Step 4 detail"/>
          <p:cNvSpPr txBox="1"/>
          <p:nvPr/>
        </p:nvSpPr>
        <p:spPr>
          <a:xfrm>
            <a:off x="9235440" y="2578608"/>
            <a:ext cx="2423160" cy="960119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Keep unique, check novelty vs ZINC, export CSV and PDF</a:t>
            </a:r>
          </a:p>
        </p:txBody>
      </p:sp>
      <p:sp>
        <p:nvSpPr>
          <p:cNvPr id="166" name="Funnel title"/>
          <p:cNvSpPr txBox="1"/>
          <p:nvPr/>
        </p:nvSpPr>
        <p:spPr>
          <a:xfrm>
            <a:off x="448056" y="3703320"/>
            <a:ext cx="822960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Result funnel from 100,000 samples</a:t>
            </a:r>
          </a:p>
        </p:txBody>
      </p:sp>
      <p:sp>
        <p:nvSpPr>
          <p:cNvPr id="167" name="Stat 100,000"/>
          <p:cNvSpPr/>
          <p:nvPr/>
        </p:nvSpPr>
        <p:spPr>
          <a:xfrm>
            <a:off x="448056" y="4160520"/>
            <a:ext cx="2606040" cy="123444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800" b="1" i="0">
                <a:solidFill>
                  <a:srgbClr val="006E96"/>
                </a:solidFill>
                <a:latin typeface="Verdana"/>
              </a:rPr>
              <a:t>100,000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Verdana"/>
              </a:rPr>
              <a:t>sampled</a:t>
            </a:r>
          </a:p>
        </p:txBody>
      </p:sp>
      <p:cxnSp>
        <p:nvCxnSpPr>
          <p:cNvPr id="168" name="Funnel arrow 1"/>
          <p:cNvCxnSpPr/>
          <p:nvPr/>
        </p:nvCxnSpPr>
        <p:spPr>
          <a:xfrm>
            <a:off x="3081527" y="4773168"/>
            <a:ext cx="237745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Stat 81,308"/>
          <p:cNvSpPr/>
          <p:nvPr/>
        </p:nvSpPr>
        <p:spPr>
          <a:xfrm>
            <a:off x="3346704" y="4160520"/>
            <a:ext cx="2606040" cy="123444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800" b="1" i="0">
                <a:solidFill>
                  <a:srgbClr val="006E96"/>
                </a:solidFill>
                <a:latin typeface="Verdana"/>
              </a:rPr>
              <a:t>81,308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Verdana"/>
              </a:rPr>
              <a:t>valid (81.31 %)</a:t>
            </a:r>
          </a:p>
        </p:txBody>
      </p:sp>
      <p:cxnSp>
        <p:nvCxnSpPr>
          <p:cNvPr id="170" name="Funnel arrow 2"/>
          <p:cNvCxnSpPr/>
          <p:nvPr/>
        </p:nvCxnSpPr>
        <p:spPr>
          <a:xfrm>
            <a:off x="5980176" y="4773168"/>
            <a:ext cx="237744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Stat 81,267"/>
          <p:cNvSpPr/>
          <p:nvPr/>
        </p:nvSpPr>
        <p:spPr>
          <a:xfrm>
            <a:off x="6245352" y="4160520"/>
            <a:ext cx="2606040" cy="1234440"/>
          </a:xfrm>
          <a:prstGeom prst="roundRect">
            <a:avLst>
              <a:gd name="adj" fmla="val 7000"/>
            </a:avLst>
          </a:prstGeom>
          <a:solidFill>
            <a:srgbClr val="FF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800" b="1" i="0">
                <a:solidFill>
                  <a:srgbClr val="006E96"/>
                </a:solidFill>
                <a:latin typeface="Verdana"/>
              </a:rPr>
              <a:t>81,267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Verdana"/>
              </a:rPr>
              <a:t>unique (99.95 %)</a:t>
            </a:r>
          </a:p>
        </p:txBody>
      </p:sp>
      <p:cxnSp>
        <p:nvCxnSpPr>
          <p:cNvPr id="172" name="Funnel arrow 3"/>
          <p:cNvCxnSpPr/>
          <p:nvPr/>
        </p:nvCxnSpPr>
        <p:spPr>
          <a:xfrm>
            <a:off x="8878824" y="4773168"/>
            <a:ext cx="237744" cy="0"/>
          </a:xfrm>
          <a:prstGeom prst="line">
            <a:avLst/>
          </a:prstGeom>
          <a:ln w="285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Stat 81,267"/>
          <p:cNvSpPr/>
          <p:nvPr/>
        </p:nvSpPr>
        <p:spPr>
          <a:xfrm>
            <a:off x="9144000" y="4160520"/>
            <a:ext cx="2606040" cy="123444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800" b="1" i="0">
                <a:solidFill>
                  <a:srgbClr val="006E96"/>
                </a:solidFill>
                <a:latin typeface="Verdana"/>
              </a:rPr>
              <a:t>81,267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Verdana"/>
              </a:rPr>
              <a:t>novel (100 %)</a:t>
            </a:r>
          </a:p>
        </p:txBody>
      </p:sp>
      <p:sp>
        <p:nvSpPr>
          <p:cNvPr id="174" name="Sampling note"/>
          <p:cNvSpPr txBox="1"/>
          <p:nvPr/>
        </p:nvSpPr>
        <p:spPr>
          <a:xfrm>
            <a:off x="448056" y="5532120"/>
            <a:ext cx="11301984" cy="6400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Temperature sampling, not greedy argmax: 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greedy decoding collapses to repeated tokens and ring strings.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4" name="Google Shape;134;p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12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3"/>
          <p:cNvSpPr txBox="1"/>
          <p:nvPr/>
        </p:nvSpPr>
        <p:spPr>
          <a:xfrm>
            <a:off x="450774" y="900322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Results and Discussion: Benchmarks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38600" y="20906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Discovery Using VAEs</a:t>
            </a:r>
            <a:endParaRPr/>
          </a:p>
        </p:txBody>
      </p:sp>
      <p:sp>
        <p:nvSpPr>
          <p:cNvPr id="147" name="Stat 81.31 %"/>
          <p:cNvSpPr/>
          <p:nvPr/>
        </p:nvSpPr>
        <p:spPr>
          <a:xfrm>
            <a:off x="448056" y="1481328"/>
            <a:ext cx="2688336" cy="137160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3200" b="1" i="0">
                <a:solidFill>
                  <a:srgbClr val="006E96"/>
                </a:solidFill>
                <a:latin typeface="Verdana"/>
              </a:rPr>
              <a:t>81.31 %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Verdana"/>
              </a:rPr>
              <a:t>validity</a:t>
            </a:r>
          </a:p>
        </p:txBody>
      </p:sp>
      <p:sp>
        <p:nvSpPr>
          <p:cNvPr id="148" name="Stat 99.95 %"/>
          <p:cNvSpPr/>
          <p:nvPr/>
        </p:nvSpPr>
        <p:spPr>
          <a:xfrm>
            <a:off x="3319272" y="1481328"/>
            <a:ext cx="2688336" cy="137160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3200" b="1" i="0">
                <a:solidFill>
                  <a:srgbClr val="006E96"/>
                </a:solidFill>
                <a:latin typeface="Verdana"/>
              </a:rPr>
              <a:t>99.95 %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Verdana"/>
              </a:rPr>
              <a:t>uniqueness</a:t>
            </a:r>
          </a:p>
        </p:txBody>
      </p:sp>
      <p:sp>
        <p:nvSpPr>
          <p:cNvPr id="149" name="Stat 100 %"/>
          <p:cNvSpPr/>
          <p:nvPr/>
        </p:nvSpPr>
        <p:spPr>
          <a:xfrm>
            <a:off x="6190488" y="1481328"/>
            <a:ext cx="2688336" cy="1371600"/>
          </a:xfrm>
          <a:prstGeom prst="roundRect">
            <a:avLst>
              <a:gd name="adj" fmla="val 7000"/>
            </a:avLst>
          </a:prstGeom>
          <a:solidFill>
            <a:srgbClr val="FF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3200" b="1" i="0">
                <a:solidFill>
                  <a:srgbClr val="006E96"/>
                </a:solidFill>
                <a:latin typeface="Verdana"/>
              </a:rPr>
              <a:t>100 %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Verdana"/>
              </a:rPr>
              <a:t>novelty</a:t>
            </a:r>
          </a:p>
        </p:txBody>
      </p:sp>
      <p:sp>
        <p:nvSpPr>
          <p:cNvPr id="150" name="Stat 0.72"/>
          <p:cNvSpPr/>
          <p:nvPr/>
        </p:nvSpPr>
        <p:spPr>
          <a:xfrm>
            <a:off x="9061704" y="1481328"/>
            <a:ext cx="2688336" cy="137160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3200" b="1" i="0">
                <a:solidFill>
                  <a:srgbClr val="006E96"/>
                </a:solidFill>
                <a:latin typeface="Verdana"/>
              </a:rPr>
              <a:t>0.72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Verdana"/>
              </a:rPr>
              <a:t>average QED</a:t>
            </a:r>
          </a:p>
        </p:txBody>
      </p:sp>
      <p:graphicFrame>
        <p:nvGraphicFramePr>
          <p:cNvPr id="151" name="Benchmark table"/>
          <p:cNvGraphicFramePr>
            <a:graphicFrameLocks noGrp="1"/>
          </p:cNvGraphicFramePr>
          <p:nvPr/>
        </p:nvGraphicFramePr>
        <p:xfrm>
          <a:off x="448056" y="3108960"/>
          <a:ext cx="11301983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Metric</a:t>
                      </a:r>
                    </a:p>
                  </a:txBody>
                  <a:tcPr marL="109728" marR="109728" marT="36576" marB="36576" anchor="ctr"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Target</a:t>
                      </a:r>
                    </a:p>
                  </a:txBody>
                  <a:tcPr marL="109728" marR="109728" marT="36576" marB="36576" anchor="ctr"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Our result</a:t>
                      </a:r>
                    </a:p>
                  </a:txBody>
                  <a:tcPr marL="109728" marR="109728" marT="36576" marB="36576" anchor="ctr"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Status</a:t>
                      </a:r>
                    </a:p>
                  </a:txBody>
                  <a:tcPr marL="109728" marR="109728" marT="36576" marB="36576" anchor="ctr">
                    <a:solidFill>
                      <a:srgbClr val="3AF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Chemical validity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&gt; 70 %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81.31 % (81,308 / 100,000)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Met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Uniqueness</a:t>
                      </a:r>
                    </a:p>
                  </a:txBody>
                  <a:tcPr marL="109728" marR="109728" marT="36576" marB="36576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&gt; 95 %</a:t>
                      </a:r>
                    </a:p>
                  </a:txBody>
                  <a:tcPr marL="109728" marR="109728" marT="36576" marB="36576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99.95 % (81,267 / 81,308)</a:t>
                      </a:r>
                    </a:p>
                  </a:txBody>
                  <a:tcPr marL="109728" marR="109728" marT="36576" marB="36576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Met</a:t>
                      </a:r>
                    </a:p>
                  </a:txBody>
                  <a:tcPr marL="109728" marR="109728" marT="36576" marB="36576" anchor="ctr">
                    <a:solidFill>
                      <a:srgbClr val="F2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Novelty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&gt; 90 %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100.00 % (81,267 / 81,267)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Met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Average QED</a:t>
                      </a:r>
                    </a:p>
                  </a:txBody>
                  <a:tcPr marL="109728" marR="109728" marT="36576" marB="36576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&gt; 0.65</a:t>
                      </a:r>
                    </a:p>
                  </a:txBody>
                  <a:tcPr marL="109728" marR="109728" marT="36576" marB="36576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0.72</a:t>
                      </a:r>
                    </a:p>
                  </a:txBody>
                  <a:tcPr marL="109728" marR="109728" marT="36576" marB="36576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Met</a:t>
                      </a:r>
                    </a:p>
                  </a:txBody>
                  <a:tcPr marL="109728" marR="109728" marT="36576" marB="36576" anchor="ctr">
                    <a:solidFill>
                      <a:srgbClr val="F2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Verdana"/>
                        </a:rPr>
                        <a:t>LogP distribution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−0.4 to 5.0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1.8 to 4.2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Verdana"/>
                        </a:rPr>
                        <a:t>Within range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4" name="Google Shape;134;p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13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3"/>
          <p:cNvSpPr txBox="1"/>
          <p:nvPr/>
        </p:nvSpPr>
        <p:spPr>
          <a:xfrm>
            <a:off x="450774" y="900322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Results and Discussion: Generated Molecules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38600" y="20906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Discovery Using VAEs</a:t>
            </a:r>
            <a:endParaRPr/>
          </a:p>
        </p:txBody>
      </p:sp>
      <p:sp>
        <p:nvSpPr>
          <p:cNvPr id="147" name="Molecule grid card"/>
          <p:cNvSpPr/>
          <p:nvPr/>
        </p:nvSpPr>
        <p:spPr>
          <a:xfrm>
            <a:off x="448056" y="1463040"/>
            <a:ext cx="6126480" cy="4617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C8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8" name="Top generated molecules by QED" descr="molecules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94703"/>
            <a:ext cx="5943600" cy="4163537"/>
          </a:xfrm>
          <a:prstGeom prst="rect">
            <a:avLst/>
          </a:prstGeom>
        </p:spPr>
      </p:pic>
      <p:sp>
        <p:nvSpPr>
          <p:cNvPr id="149" name="Heading"/>
          <p:cNvSpPr txBox="1"/>
          <p:nvPr/>
        </p:nvSpPr>
        <p:spPr>
          <a:xfrm>
            <a:off x="6812280" y="1481328"/>
            <a:ext cx="493776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What the model designed</a:t>
            </a:r>
          </a:p>
        </p:txBody>
      </p:sp>
      <p:sp>
        <p:nvSpPr>
          <p:cNvPr id="150" name="Observations"/>
          <p:cNvSpPr txBox="1"/>
          <p:nvPr/>
        </p:nvSpPr>
        <p:spPr>
          <a:xfrm>
            <a:off x="6812280" y="1920240"/>
            <a:ext cx="4937760" cy="301752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marL="274320" indent="-27432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Verdana"/>
              </a:rPr>
              <a:t>Top 12 of 500 sampled points, ranked by QED (0.920 to 0.936)</a:t>
            </a:r>
          </a:p>
          <a:p>
            <a:pPr marL="274320" indent="-27432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Verdana"/>
              </a:rPr>
              <a:t>Drug-like motifs: amides, ureas, piperidines, thiophene, pyrazole, triazole, oxazole</a:t>
            </a:r>
          </a:p>
          <a:p>
            <a:pPr marL="274320" indent="-27432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Verdana"/>
              </a:rPr>
              <a:t>Every structure parses in RDKit, so valence and ring rules hold</a:t>
            </a:r>
          </a:p>
          <a:p>
            <a:pPr marL="274320" indent="-274320" algn="l"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Verdana"/>
              </a:rPr>
              <a:t>Valid is not the same as makeable: a few outputs show strained rings</a:t>
            </a:r>
          </a:p>
        </p:txBody>
      </p:sp>
      <p:sp>
        <p:nvSpPr>
          <p:cNvPr id="151" name="Caveat card"/>
          <p:cNvSpPr/>
          <p:nvPr/>
        </p:nvSpPr>
        <p:spPr>
          <a:xfrm>
            <a:off x="6812280" y="5120640"/>
            <a:ext cx="4937760" cy="914400"/>
          </a:xfrm>
          <a:prstGeom prst="roundRect">
            <a:avLst>
              <a:gd name="adj" fmla="val 7000"/>
            </a:avLst>
          </a:prstGeom>
          <a:solidFill>
            <a:srgbClr val="FF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Next check: 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SAS scoring and chemist review before any synthesis.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4" name="Google Shape;134;p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14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3"/>
          <p:cNvSpPr txBox="1"/>
          <p:nvPr/>
        </p:nvSpPr>
        <p:spPr>
          <a:xfrm>
            <a:off x="450774" y="900322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Results and Discussion: Latent Space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38600" y="20906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Discovery Using VAEs</a:t>
            </a:r>
            <a:endParaRPr/>
          </a:p>
        </p:txBody>
      </p:sp>
      <p:sp>
        <p:nvSpPr>
          <p:cNvPr id="147" name="Latent plot card"/>
          <p:cNvSpPr/>
          <p:nvPr/>
        </p:nvSpPr>
        <p:spPr>
          <a:xfrm>
            <a:off x="1188720" y="1463040"/>
            <a:ext cx="9811512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C8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8" name="PCA and t-SNE of latent space" descr="latent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613" y="1536192"/>
            <a:ext cx="8927725" cy="3611880"/>
          </a:xfrm>
          <a:prstGeom prst="rect">
            <a:avLst/>
          </a:prstGeom>
        </p:spPr>
      </p:pic>
      <p:sp>
        <p:nvSpPr>
          <p:cNvPr id="149" name="t-SNE card"/>
          <p:cNvSpPr/>
          <p:nvPr/>
        </p:nvSpPr>
        <p:spPr>
          <a:xfrm>
            <a:off x="448056" y="5349240"/>
            <a:ext cx="5532120" cy="73152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t-SNE: 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compact local groups; similar molecules sit together.</a:t>
            </a:r>
          </a:p>
        </p:txBody>
      </p:sp>
      <p:sp>
        <p:nvSpPr>
          <p:cNvPr id="150" name="PCA card"/>
          <p:cNvSpPr/>
          <p:nvPr/>
        </p:nvSpPr>
        <p:spPr>
          <a:xfrm>
            <a:off x="6217920" y="5349240"/>
            <a:ext cx="5532120" cy="73152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>
            <a:no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PCA: 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encoded means sit near the origin (axes about 10</a:t>
            </a:r>
            <a:r>
              <a:rPr sz="1400" b="0" i="0" baseline="30000">
                <a:solidFill>
                  <a:srgbClr val="1A1A1A"/>
                </a:solidFill>
                <a:latin typeface="Verdana"/>
              </a:rPr>
              <a:t>−4</a:t>
            </a:r>
            <a:r>
              <a:rPr sz="1400" b="0" i="0">
                <a:solidFill>
                  <a:srgbClr val="1A1A1A"/>
                </a:solidFill>
                <a:latin typeface="Verdana"/>
              </a:rPr>
              <a:t>) with a few outliers.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4" name="Google Shape;134;p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15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3"/>
          <p:cNvSpPr txBox="1"/>
          <p:nvPr/>
        </p:nvSpPr>
        <p:spPr>
          <a:xfrm>
            <a:off x="450774" y="900322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Demonstration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38600" y="20906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Discovery Using VAEs</a:t>
            </a:r>
            <a:endParaRPr/>
          </a:p>
        </p:txBody>
      </p:sp>
      <p:sp>
        <p:nvSpPr>
          <p:cNvPr id="147" name="Deliverables title"/>
          <p:cNvSpPr txBox="1"/>
          <p:nvPr/>
        </p:nvSpPr>
        <p:spPr>
          <a:xfrm>
            <a:off x="448056" y="1444752"/>
            <a:ext cx="640080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Project deliverables</a:t>
            </a:r>
          </a:p>
        </p:txBody>
      </p:sp>
      <p:sp>
        <p:nvSpPr>
          <p:cNvPr id="148" name="Deliverable 1 row"/>
          <p:cNvSpPr/>
          <p:nvPr/>
        </p:nvSpPr>
        <p:spPr>
          <a:xfrm>
            <a:off x="448056" y="1920240"/>
            <a:ext cx="6583680" cy="713232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Deliverable 1 type"/>
          <p:cNvSpPr/>
          <p:nvPr/>
        </p:nvSpPr>
        <p:spPr>
          <a:xfrm>
            <a:off x="566928" y="2048256"/>
            <a:ext cx="1143000" cy="457200"/>
          </a:xfrm>
          <a:prstGeom prst="roundRect">
            <a:avLst>
              <a:gd name="adj" fmla="val 15000"/>
            </a:avLst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Verdana"/>
              </a:rPr>
              <a:t>.csv</a:t>
            </a:r>
          </a:p>
        </p:txBody>
      </p:sp>
      <p:sp>
        <p:nvSpPr>
          <p:cNvPr id="150" name="Deliverable 1 text"/>
          <p:cNvSpPr txBox="1"/>
          <p:nvPr/>
        </p:nvSpPr>
        <p:spPr>
          <a:xfrm>
            <a:off x="1828800" y="1947672"/>
            <a:ext cx="5120640" cy="658368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all_generated_drugs.csv: 81K valid SMILES</a:t>
            </a:r>
          </a:p>
        </p:txBody>
      </p:sp>
      <p:sp>
        <p:nvSpPr>
          <p:cNvPr id="151" name="Deliverable 2 row"/>
          <p:cNvSpPr/>
          <p:nvPr/>
        </p:nvSpPr>
        <p:spPr>
          <a:xfrm>
            <a:off x="448056" y="2743200"/>
            <a:ext cx="6583680" cy="713232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Deliverable 2 type"/>
          <p:cNvSpPr/>
          <p:nvPr/>
        </p:nvSpPr>
        <p:spPr>
          <a:xfrm>
            <a:off x="566928" y="2871216"/>
            <a:ext cx="1143000" cy="457200"/>
          </a:xfrm>
          <a:prstGeom prst="roundRect">
            <a:avLst>
              <a:gd name="adj" fmla="val 15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Verdana"/>
              </a:rPr>
              <a:t>.csv</a:t>
            </a:r>
          </a:p>
        </p:txBody>
      </p:sp>
      <p:sp>
        <p:nvSpPr>
          <p:cNvPr id="153" name="Deliverable 2 text"/>
          <p:cNvSpPr txBox="1"/>
          <p:nvPr/>
        </p:nvSpPr>
        <p:spPr>
          <a:xfrm>
            <a:off x="1828800" y="2770632"/>
            <a:ext cx="5120640" cy="658368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all_generated_drugs_full.csv: adds logP, QED, SAS</a:t>
            </a:r>
          </a:p>
        </p:txBody>
      </p:sp>
      <p:sp>
        <p:nvSpPr>
          <p:cNvPr id="154" name="Deliverable 3 row"/>
          <p:cNvSpPr/>
          <p:nvPr/>
        </p:nvSpPr>
        <p:spPr>
          <a:xfrm>
            <a:off x="448056" y="3566160"/>
            <a:ext cx="6583680" cy="713232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Deliverable 3 type"/>
          <p:cNvSpPr/>
          <p:nvPr/>
        </p:nvSpPr>
        <p:spPr>
          <a:xfrm>
            <a:off x="566928" y="3694176"/>
            <a:ext cx="1143000" cy="457200"/>
          </a:xfrm>
          <a:prstGeom prst="roundRect">
            <a:avLst>
              <a:gd name="adj" fmla="val 15000"/>
            </a:avLst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Verdana"/>
              </a:rPr>
              <a:t>.pdf</a:t>
            </a:r>
          </a:p>
        </p:txBody>
      </p:sp>
      <p:sp>
        <p:nvSpPr>
          <p:cNvPr id="156" name="Deliverable 3 text"/>
          <p:cNvSpPr txBox="1"/>
          <p:nvPr/>
        </p:nvSpPr>
        <p:spPr>
          <a:xfrm>
            <a:off x="1828800" y="3593592"/>
            <a:ext cx="5120640" cy="658368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1000_new_drugs_multipage.pdf: 84-page structure catalog</a:t>
            </a:r>
          </a:p>
        </p:txBody>
      </p:sp>
      <p:sp>
        <p:nvSpPr>
          <p:cNvPr id="157" name="Deliverable 4 row"/>
          <p:cNvSpPr/>
          <p:nvPr/>
        </p:nvSpPr>
        <p:spPr>
          <a:xfrm>
            <a:off x="448056" y="4389120"/>
            <a:ext cx="6583680" cy="713232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Deliverable 4 type"/>
          <p:cNvSpPr/>
          <p:nvPr/>
        </p:nvSpPr>
        <p:spPr>
          <a:xfrm>
            <a:off x="566928" y="4517136"/>
            <a:ext cx="1143000" cy="457200"/>
          </a:xfrm>
          <a:prstGeom prst="roundRect">
            <a:avLst>
              <a:gd name="adj" fmla="val 15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Verdana"/>
              </a:rPr>
              <a:t>.ipynb</a:t>
            </a:r>
          </a:p>
        </p:txBody>
      </p:sp>
      <p:sp>
        <p:nvSpPr>
          <p:cNvPr id="159" name="Deliverable 4 text"/>
          <p:cNvSpPr txBox="1"/>
          <p:nvPr/>
        </p:nvSpPr>
        <p:spPr>
          <a:xfrm>
            <a:off x="1828800" y="4416552"/>
            <a:ext cx="5120640" cy="658368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Six notebooks, from EDA to the 100k-sample evaluation</a:t>
            </a:r>
          </a:p>
        </p:txBody>
      </p:sp>
      <p:sp>
        <p:nvSpPr>
          <p:cNvPr id="160" name="Deliverable 5 row"/>
          <p:cNvSpPr/>
          <p:nvPr/>
        </p:nvSpPr>
        <p:spPr>
          <a:xfrm>
            <a:off x="448056" y="5212080"/>
            <a:ext cx="6583680" cy="713232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Deliverable 5 type"/>
          <p:cNvSpPr/>
          <p:nvPr/>
        </p:nvSpPr>
        <p:spPr>
          <a:xfrm>
            <a:off x="566928" y="5340096"/>
            <a:ext cx="1143000" cy="457200"/>
          </a:xfrm>
          <a:prstGeom prst="roundRect">
            <a:avLst>
              <a:gd name="adj" fmla="val 15000"/>
            </a:avLst>
          </a:prstGeom>
          <a:solidFill>
            <a:srgbClr val="3A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Verdana"/>
              </a:rPr>
              <a:t>.pt</a:t>
            </a:r>
          </a:p>
        </p:txBody>
      </p:sp>
      <p:sp>
        <p:nvSpPr>
          <p:cNvPr id="162" name="Deliverable 5 text"/>
          <p:cNvSpPr txBox="1"/>
          <p:nvPr/>
        </p:nvSpPr>
        <p:spPr>
          <a:xfrm>
            <a:off x="1828800" y="5239512"/>
            <a:ext cx="5120640" cy="658368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vae_final.pt: trained weights (2.63 MB)</a:t>
            </a:r>
          </a:p>
        </p:txBody>
      </p:sp>
      <p:sp>
        <p:nvSpPr>
          <p:cNvPr id="163" name="GitHub card"/>
          <p:cNvSpPr/>
          <p:nvPr/>
        </p:nvSpPr>
        <p:spPr>
          <a:xfrm>
            <a:off x="7269480" y="1481328"/>
            <a:ext cx="4480560" cy="160020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GitHub title"/>
          <p:cNvSpPr txBox="1"/>
          <p:nvPr/>
        </p:nvSpPr>
        <p:spPr>
          <a:xfrm>
            <a:off x="7406640" y="1554480"/>
            <a:ext cx="420624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GitHub repository</a:t>
            </a:r>
          </a:p>
        </p:txBody>
      </p:sp>
      <p:sp>
        <p:nvSpPr>
          <p:cNvPr id="165" name="GitHub link"/>
          <p:cNvSpPr txBox="1"/>
          <p:nvPr/>
        </p:nvSpPr>
        <p:spPr>
          <a:xfrm>
            <a:off x="7406640" y="2103120"/>
            <a:ext cx="4206240" cy="731520"/>
          </a:xfrm>
          <a:prstGeom prst="rect">
            <a:avLst/>
          </a:prstGeom>
          <a:noFill/>
        </p:spPr>
        <p:txBody>
          <a:bodyPr wrap="square" tIns="54864" bIns="54864" anchor="ctr">
            <a:no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  <a:hlinkClick r:id="rId4"/>
              </a:rPr>
              <a:t>github.com/Harshil7031/Drug-Discovery-VAE</a:t>
            </a:r>
          </a:p>
        </p:txBody>
      </p:sp>
      <p:sp>
        <p:nvSpPr>
          <p:cNvPr id="166" name="Live demo card"/>
          <p:cNvSpPr/>
          <p:nvPr/>
        </p:nvSpPr>
        <p:spPr>
          <a:xfrm>
            <a:off x="7269480" y="3246120"/>
            <a:ext cx="4480560" cy="2834640"/>
          </a:xfrm>
          <a:prstGeom prst="roundRect">
            <a:avLst>
              <a:gd name="adj" fmla="val 7000"/>
            </a:avLst>
          </a:prstGeom>
          <a:solidFill>
            <a:srgbClr val="FF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Demo title"/>
          <p:cNvSpPr txBox="1"/>
          <p:nvPr/>
        </p:nvSpPr>
        <p:spPr>
          <a:xfrm>
            <a:off x="7406640" y="3310128"/>
            <a:ext cx="420624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Live demo: web dashboard</a:t>
            </a:r>
          </a:p>
        </p:txBody>
      </p:sp>
      <p:sp>
        <p:nvSpPr>
          <p:cNvPr id="168" name="Demo bullets"/>
          <p:cNvSpPr txBox="1"/>
          <p:nvPr/>
        </p:nvSpPr>
        <p:spPr>
          <a:xfrm>
            <a:off x="7406640" y="3794760"/>
            <a:ext cx="4206240" cy="22402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marL="274320" indent="-27432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Verdana"/>
              </a:rPr>
              <a:t>Generate batches of 6, 12 or 24 molecules</a:t>
            </a:r>
          </a:p>
          <a:p>
            <a:pPr marL="274320" indent="-27432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Verdana"/>
              </a:rPr>
              <a:t>Filter by QED and SAS in real time</a:t>
            </a:r>
          </a:p>
          <a:p>
            <a:pPr marL="274320" indent="-274320" algn="l"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Verdana"/>
              </a:rPr>
              <a:t>Inspect 2D structure, formula and properties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4" name="Google Shape;134;p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16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4" name="Google Shape;144;p3"/>
          <p:cNvSpPr txBox="1"/>
          <p:nvPr/>
        </p:nvSpPr>
        <p:spPr>
          <a:xfrm>
            <a:off x="450774" y="900322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Conclusion and Future Scope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038600" y="20906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Discovery Using VAEs</a:t>
            </a:r>
            <a:endParaRPr/>
          </a:p>
        </p:txBody>
      </p:sp>
      <p:sp>
        <p:nvSpPr>
          <p:cNvPr id="147" name="Stat 249,455"/>
          <p:cNvSpPr/>
          <p:nvPr/>
        </p:nvSpPr>
        <p:spPr>
          <a:xfrm>
            <a:off x="448056" y="1481328"/>
            <a:ext cx="2688336" cy="105156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400" b="1" i="0">
                <a:solidFill>
                  <a:srgbClr val="006E96"/>
                </a:solidFill>
                <a:latin typeface="Verdana"/>
              </a:rPr>
              <a:t>249,455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Verdana"/>
              </a:rPr>
              <a:t>training molecules</a:t>
            </a:r>
          </a:p>
        </p:txBody>
      </p:sp>
      <p:sp>
        <p:nvSpPr>
          <p:cNvPr id="148" name="Stat 64-D"/>
          <p:cNvSpPr/>
          <p:nvPr/>
        </p:nvSpPr>
        <p:spPr>
          <a:xfrm>
            <a:off x="3319272" y="1481328"/>
            <a:ext cx="2688336" cy="1051560"/>
          </a:xfrm>
          <a:prstGeom prst="roundRect">
            <a:avLst>
              <a:gd name="adj" fmla="val 7000"/>
            </a:avLst>
          </a:prstGeom>
          <a:solidFill>
            <a:srgbClr val="E1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400" b="1" i="0">
                <a:solidFill>
                  <a:srgbClr val="006E96"/>
                </a:solidFill>
                <a:latin typeface="Verdana"/>
              </a:rPr>
              <a:t>64-D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Verdana"/>
              </a:rPr>
              <a:t>latent space</a:t>
            </a:r>
          </a:p>
        </p:txBody>
      </p:sp>
      <p:sp>
        <p:nvSpPr>
          <p:cNvPr id="149" name="Stat 81,267"/>
          <p:cNvSpPr/>
          <p:nvPr/>
        </p:nvSpPr>
        <p:spPr>
          <a:xfrm>
            <a:off x="6190488" y="1481328"/>
            <a:ext cx="2688336" cy="1051560"/>
          </a:xfrm>
          <a:prstGeom prst="roundRect">
            <a:avLst>
              <a:gd name="adj" fmla="val 7000"/>
            </a:avLst>
          </a:prstGeom>
          <a:solidFill>
            <a:srgbClr val="FF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400" b="1" i="0">
                <a:solidFill>
                  <a:srgbClr val="006E96"/>
                </a:solidFill>
                <a:latin typeface="Verdana"/>
              </a:rPr>
              <a:t>81,267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Verdana"/>
              </a:rPr>
              <a:t>novel molecules</a:t>
            </a:r>
          </a:p>
        </p:txBody>
      </p:sp>
      <p:sp>
        <p:nvSpPr>
          <p:cNvPr id="150" name="Stat 0.72"/>
          <p:cNvSpPr/>
          <p:nvPr/>
        </p:nvSpPr>
        <p:spPr>
          <a:xfrm>
            <a:off x="9061704" y="1481328"/>
            <a:ext cx="2688336" cy="1051560"/>
          </a:xfrm>
          <a:prstGeom prst="roundRect">
            <a:avLst>
              <a:gd name="adj" fmla="val 7000"/>
            </a:avLst>
          </a:prstGeom>
          <a:solidFill>
            <a:srgbClr val="E4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400" b="1" i="0">
                <a:solidFill>
                  <a:srgbClr val="006E96"/>
                </a:solidFill>
                <a:latin typeface="Verdana"/>
              </a:rPr>
              <a:t>0.72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Verdana"/>
              </a:rPr>
              <a:t>average QED</a:t>
            </a:r>
          </a:p>
        </p:txBody>
      </p:sp>
      <p:sp>
        <p:nvSpPr>
          <p:cNvPr id="151" name="Conclusion card"/>
          <p:cNvSpPr/>
          <p:nvPr/>
        </p:nvSpPr>
        <p:spPr>
          <a:xfrm>
            <a:off x="448056" y="2724912"/>
            <a:ext cx="5532120" cy="3383280"/>
          </a:xfrm>
          <a:prstGeom prst="roundRect">
            <a:avLst>
              <a:gd name="adj" fmla="val 7000"/>
            </a:avLst>
          </a:prstGeom>
          <a:solidFill>
            <a:srgbClr val="F2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Conclusion title"/>
          <p:cNvSpPr txBox="1"/>
          <p:nvPr/>
        </p:nvSpPr>
        <p:spPr>
          <a:xfrm>
            <a:off x="548640" y="2761488"/>
            <a:ext cx="530352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Conclusion</a:t>
            </a:r>
          </a:p>
        </p:txBody>
      </p:sp>
      <p:sp>
        <p:nvSpPr>
          <p:cNvPr id="153" name="Conclusion bullets"/>
          <p:cNvSpPr txBox="1"/>
          <p:nvPr/>
        </p:nvSpPr>
        <p:spPr>
          <a:xfrm>
            <a:off x="548640" y="3200400"/>
            <a:ext cx="5349240" cy="288036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marL="274320" indent="-27432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Verdana"/>
              </a:rPr>
              <a:t>A GRU-based VAE learned SMILES grammar with no explicit chemistry rules (81.31 % valid)</a:t>
            </a:r>
          </a:p>
          <a:p>
            <a:pPr marL="274320" indent="-27432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Verdana"/>
              </a:rPr>
              <a:t>99.95 % unique and 100 % novel: no mode collapse, no memorisation</a:t>
            </a:r>
          </a:p>
          <a:p>
            <a:pPr marL="274320" indent="-27432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Verdana"/>
              </a:rPr>
              <a:t>Average QED 0.72 and LogP 1.8 to 4.2 match drug-like ZINC molecules</a:t>
            </a:r>
          </a:p>
          <a:p>
            <a:pPr marL="274320" indent="-274320" algn="l"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Verdana"/>
              </a:rPr>
              <a:t>Full pipeline delivered: notebooks, CSV, 84-page PDF catalog</a:t>
            </a:r>
          </a:p>
        </p:txBody>
      </p:sp>
      <p:sp>
        <p:nvSpPr>
          <p:cNvPr id="154" name="Future scope card"/>
          <p:cNvSpPr/>
          <p:nvPr/>
        </p:nvSpPr>
        <p:spPr>
          <a:xfrm>
            <a:off x="6217920" y="2724912"/>
            <a:ext cx="5532120" cy="3383280"/>
          </a:xfrm>
          <a:prstGeom prst="roundRect">
            <a:avLst>
              <a:gd name="adj" fmla="val 7000"/>
            </a:avLst>
          </a:prstGeom>
          <a:solidFill>
            <a:srgbClr val="FF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Future title"/>
          <p:cNvSpPr txBox="1"/>
          <p:nvPr/>
        </p:nvSpPr>
        <p:spPr>
          <a:xfrm>
            <a:off x="6309360" y="2761488"/>
            <a:ext cx="5303520" cy="4114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/>
            <a:r>
              <a:rPr sz="1600" b="1" i="0">
                <a:solidFill>
                  <a:srgbClr val="006E96"/>
                </a:solidFill>
                <a:latin typeface="Verdana"/>
              </a:rPr>
              <a:t>Future scope</a:t>
            </a:r>
          </a:p>
        </p:txBody>
      </p:sp>
      <p:sp>
        <p:nvSpPr>
          <p:cNvPr id="156" name="Future bullets"/>
          <p:cNvSpPr txBox="1"/>
          <p:nvPr/>
        </p:nvSpPr>
        <p:spPr>
          <a:xfrm>
            <a:off x="6309360" y="3200400"/>
            <a:ext cx="5349240" cy="288036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marL="274320" indent="-27432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Verdana"/>
              </a:rPr>
              <a:t>Conditional VAE to target properties or protein binding</a:t>
            </a:r>
          </a:p>
          <a:p>
            <a:pPr marL="274320" indent="-27432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Verdana"/>
              </a:rPr>
              <a:t>Graph or SELFIES decoders to push validity toward 100 %</a:t>
            </a:r>
          </a:p>
          <a:p>
            <a:pPr marL="274320" indent="-27432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Verdana"/>
              </a:rPr>
              <a:t>Latent-space optimisation of QED and SAS</a:t>
            </a:r>
          </a:p>
          <a:p>
            <a:pPr marL="274320" indent="-274320" algn="l"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Verdana"/>
              </a:rPr>
              <a:t>Toxicity screening and wet-lab verification (human in the loop)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4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56" name="Google Shape;156;p4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17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59" name="Google Shape;159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22-10-2026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" name="Google Shape;160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CEC_3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61" name="Google Shape;161;p4"/>
          <p:cNvGrpSpPr/>
          <p:nvPr/>
        </p:nvGrpSpPr>
        <p:grpSpPr>
          <a:xfrm>
            <a:off x="450775" y="170727"/>
            <a:ext cx="3551249" cy="5467038"/>
            <a:chOff x="450775" y="170727"/>
            <a:chExt cx="3551249" cy="5467038"/>
          </a:xfrm>
        </p:grpSpPr>
        <p:sp>
          <p:nvSpPr>
            <p:cNvPr id="162" name="Google Shape;162;p4"/>
            <p:cNvSpPr txBox="1"/>
            <p:nvPr/>
          </p:nvSpPr>
          <p:spPr>
            <a:xfrm>
              <a:off x="838200" y="5146027"/>
              <a:ext cx="3163824" cy="4917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000" b="1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Thank You..</a:t>
              </a:r>
              <a:endParaRPr/>
            </a:p>
          </p:txBody>
        </p:sp>
        <p:pic>
          <p:nvPicPr>
            <p:cNvPr id="163" name="Google Shape;163;p4"/>
            <p:cNvPicPr preferRelativeResize="0"/>
            <p:nvPr/>
          </p:nvPicPr>
          <p:blipFill rotWithShape="1">
            <a:blip r:embed="rId3">
              <a:alphaModFix/>
            </a:blip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4" name="Google Shape;164;p4"/>
            <p:cNvGrpSpPr/>
            <p:nvPr/>
          </p:nvGrpSpPr>
          <p:grpSpPr>
            <a:xfrm>
              <a:off x="450775" y="5338110"/>
              <a:ext cx="338514" cy="212015"/>
              <a:chOff x="521095" y="429142"/>
              <a:chExt cx="463644" cy="290385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7" name="Project and team"/>
          <p:cNvSpPr txBox="1"/>
          <p:nvPr/>
        </p:nvSpPr>
        <p:spPr>
          <a:xfrm>
            <a:off x="4754880" y="2011680"/>
            <a:ext cx="6949440" cy="2926080"/>
          </a:xfrm>
          <a:prstGeom prst="rect">
            <a:avLst/>
          </a:prstGeom>
          <a:noFill/>
        </p:spPr>
        <p:txBody>
          <a:bodyPr wrap="square" tIns="54864" bIns="54864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06E96"/>
                </a:solidFill>
                <a:latin typeface="Verdana"/>
              </a:rPr>
              <a:t>Drug Discovery Using VAEs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Verdana"/>
              </a:rPr>
              <a:t>23BT04098 - Harshil Patel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Verdana"/>
              </a:rPr>
              <a:t>23BT04123 - Varun Patel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1A1A"/>
                </a:solidFill>
                <a:latin typeface="Verdana"/>
              </a:rPr>
              <a:t>24BT04D213 - Dharmik Gajjar</a:t>
            </a:r>
          </a:p>
          <a:p>
            <a:pPr algn="l"/>
            <a:r>
              <a:rPr sz="1400" b="0" i="0">
                <a:solidFill>
                  <a:srgbClr val="555555"/>
                </a:solidFill>
                <a:latin typeface="Verdana"/>
              </a:rPr>
              <a:t>github.com/Harshil7031/Drug-Discovery-VAE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2280</Words>
  <Application>Microsoft Office PowerPoint</Application>
  <PresentationFormat>Widescreen</PresentationFormat>
  <Paragraphs>380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 Math</vt:lpstr>
      <vt:lpstr>Courier New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Discovery Using VAEs</dc:title>
  <dc:creator>Harshil Patel, Varun Patel, Dharmik Gajjar</dc:creator>
  <cp:lastModifiedBy>Harshil Patel</cp:lastModifiedBy>
  <cp:revision>2</cp:revision>
  <dcterms:created xsi:type="dcterms:W3CDTF">2021-10-26T04:13:36Z</dcterms:created>
  <dcterms:modified xsi:type="dcterms:W3CDTF">2026-10-22T06:18:06Z</dcterms:modified>
</cp:coreProperties>
</file>